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Tex Gyre Termes Bold" charset="1" panose="00000800000000000000"/>
      <p:regular r:id="rId21"/>
    </p:embeddedFont>
    <p:embeddedFont>
      <p:font typeface="Arimo Bold Italics" charset="1" panose="020B0704020202090204"/>
      <p:regular r:id="rId22"/>
    </p:embeddedFont>
    <p:embeddedFont>
      <p:font typeface="Tex Gyre Termes Italics" charset="1" panose="00000500000000000000"/>
      <p:regular r:id="rId23"/>
    </p:embeddedFont>
    <p:embeddedFont>
      <p:font typeface="Touvlo" charset="1" panose="020B0604030403020204"/>
      <p:regular r:id="rId24"/>
    </p:embeddedFont>
    <p:embeddedFont>
      <p:font typeface="Touvlo Bold" charset="1" panose="020B0804030403020204"/>
      <p:regular r:id="rId25"/>
    </p:embeddedFont>
    <p:embeddedFont>
      <p:font typeface="Touvlo Italics" charset="1" panose="020B060403040309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000500"/>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4230" y="-4688138"/>
            <a:ext cx="15430500" cy="6200255"/>
          </a:xfrm>
          <a:custGeom>
            <a:avLst/>
            <a:gdLst/>
            <a:ahLst/>
            <a:cxnLst/>
            <a:rect r="r" b="b" t="t" l="l"/>
            <a:pathLst>
              <a:path h="6200255" w="15430500">
                <a:moveTo>
                  <a:pt x="0" y="0"/>
                </a:moveTo>
                <a:lnTo>
                  <a:pt x="15430500" y="0"/>
                </a:lnTo>
                <a:lnTo>
                  <a:pt x="15430500" y="6200256"/>
                </a:lnTo>
                <a:lnTo>
                  <a:pt x="0" y="62002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417634" y="-2388268"/>
            <a:ext cx="6552129" cy="6063698"/>
          </a:xfrm>
          <a:custGeom>
            <a:avLst/>
            <a:gdLst/>
            <a:ahLst/>
            <a:cxnLst/>
            <a:rect r="r" b="b" t="t" l="l"/>
            <a:pathLst>
              <a:path h="6063698" w="6552129">
                <a:moveTo>
                  <a:pt x="0" y="0"/>
                </a:moveTo>
                <a:lnTo>
                  <a:pt x="6552129" y="0"/>
                </a:lnTo>
                <a:lnTo>
                  <a:pt x="6552129" y="6063697"/>
                </a:lnTo>
                <a:lnTo>
                  <a:pt x="0" y="60636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3837029" y="-2556711"/>
            <a:ext cx="6552129" cy="6063698"/>
          </a:xfrm>
          <a:custGeom>
            <a:avLst/>
            <a:gdLst/>
            <a:ahLst/>
            <a:cxnLst/>
            <a:rect r="r" b="b" t="t" l="l"/>
            <a:pathLst>
              <a:path h="6063698" w="6552129">
                <a:moveTo>
                  <a:pt x="6552129" y="0"/>
                </a:moveTo>
                <a:lnTo>
                  <a:pt x="0" y="0"/>
                </a:lnTo>
                <a:lnTo>
                  <a:pt x="0" y="6063698"/>
                </a:lnTo>
                <a:lnTo>
                  <a:pt x="6552129" y="6063698"/>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28750" y="8839368"/>
            <a:ext cx="15430500" cy="6200255"/>
          </a:xfrm>
          <a:custGeom>
            <a:avLst/>
            <a:gdLst/>
            <a:ahLst/>
            <a:cxnLst/>
            <a:rect r="r" b="b" t="t" l="l"/>
            <a:pathLst>
              <a:path h="6200255" w="15430500">
                <a:moveTo>
                  <a:pt x="0" y="0"/>
                </a:moveTo>
                <a:lnTo>
                  <a:pt x="15430500" y="0"/>
                </a:lnTo>
                <a:lnTo>
                  <a:pt x="15430500" y="6200255"/>
                </a:lnTo>
                <a:lnTo>
                  <a:pt x="0" y="62002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1731834" y="7255151"/>
            <a:ext cx="6552129" cy="6063698"/>
          </a:xfrm>
          <a:custGeom>
            <a:avLst/>
            <a:gdLst/>
            <a:ahLst/>
            <a:cxnLst/>
            <a:rect r="r" b="b" t="t" l="l"/>
            <a:pathLst>
              <a:path h="6063698" w="6552129">
                <a:moveTo>
                  <a:pt x="6552129" y="0"/>
                </a:moveTo>
                <a:lnTo>
                  <a:pt x="0" y="0"/>
                </a:lnTo>
                <a:lnTo>
                  <a:pt x="0" y="6063698"/>
                </a:lnTo>
                <a:lnTo>
                  <a:pt x="6552129" y="6063698"/>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500145" y="7255151"/>
            <a:ext cx="6552129" cy="6063698"/>
          </a:xfrm>
          <a:custGeom>
            <a:avLst/>
            <a:gdLst/>
            <a:ahLst/>
            <a:cxnLst/>
            <a:rect r="r" b="b" t="t" l="l"/>
            <a:pathLst>
              <a:path h="6063698" w="6552129">
                <a:moveTo>
                  <a:pt x="0" y="0"/>
                </a:moveTo>
                <a:lnTo>
                  <a:pt x="6552129" y="0"/>
                </a:lnTo>
                <a:lnTo>
                  <a:pt x="6552129" y="6063698"/>
                </a:lnTo>
                <a:lnTo>
                  <a:pt x="0" y="6063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2029072" y="394800"/>
            <a:ext cx="5438755" cy="2272736"/>
          </a:xfrm>
          <a:custGeom>
            <a:avLst/>
            <a:gdLst/>
            <a:ahLst/>
            <a:cxnLst/>
            <a:rect r="r" b="b" t="t" l="l"/>
            <a:pathLst>
              <a:path h="2272736" w="5438755">
                <a:moveTo>
                  <a:pt x="0" y="0"/>
                </a:moveTo>
                <a:lnTo>
                  <a:pt x="5438755" y="0"/>
                </a:lnTo>
                <a:lnTo>
                  <a:pt x="5438755" y="2272736"/>
                </a:lnTo>
                <a:lnTo>
                  <a:pt x="0" y="2272736"/>
                </a:lnTo>
                <a:lnTo>
                  <a:pt x="0" y="0"/>
                </a:lnTo>
                <a:close/>
              </a:path>
            </a:pathLst>
          </a:custGeom>
          <a:blipFill>
            <a:blip r:embed="rId8"/>
            <a:stretch>
              <a:fillRect l="0" t="0" r="0" b="0"/>
            </a:stretch>
          </a:blipFill>
        </p:spPr>
      </p:sp>
      <p:sp>
        <p:nvSpPr>
          <p:cNvPr name="Freeform 10" id="10"/>
          <p:cNvSpPr/>
          <p:nvPr/>
        </p:nvSpPr>
        <p:spPr>
          <a:xfrm flipH="false" flipV="false" rot="0">
            <a:off x="329720" y="6899476"/>
            <a:ext cx="4970624" cy="2711249"/>
          </a:xfrm>
          <a:custGeom>
            <a:avLst/>
            <a:gdLst/>
            <a:ahLst/>
            <a:cxnLst/>
            <a:rect r="r" b="b" t="t" l="l"/>
            <a:pathLst>
              <a:path h="2711249" w="4970624">
                <a:moveTo>
                  <a:pt x="0" y="0"/>
                </a:moveTo>
                <a:lnTo>
                  <a:pt x="4970623" y="0"/>
                </a:lnTo>
                <a:lnTo>
                  <a:pt x="4970623" y="2711249"/>
                </a:lnTo>
                <a:lnTo>
                  <a:pt x="0" y="2711249"/>
                </a:lnTo>
                <a:lnTo>
                  <a:pt x="0" y="0"/>
                </a:lnTo>
                <a:close/>
              </a:path>
            </a:pathLst>
          </a:custGeom>
          <a:blipFill>
            <a:blip r:embed="rId9"/>
            <a:stretch>
              <a:fillRect l="0" t="0" r="0" b="0"/>
            </a:stretch>
          </a:blipFill>
        </p:spPr>
      </p:sp>
      <p:sp>
        <p:nvSpPr>
          <p:cNvPr name="TextBox 11" id="11"/>
          <p:cNvSpPr txBox="true"/>
          <p:nvPr/>
        </p:nvSpPr>
        <p:spPr>
          <a:xfrm rot="0">
            <a:off x="2815032" y="3033189"/>
            <a:ext cx="12635893" cy="4494657"/>
          </a:xfrm>
          <a:prstGeom prst="rect">
            <a:avLst/>
          </a:prstGeom>
        </p:spPr>
        <p:txBody>
          <a:bodyPr anchor="t" rtlCol="false" tIns="0" lIns="0" bIns="0" rIns="0">
            <a:spAutoFit/>
          </a:bodyPr>
          <a:lstStyle/>
          <a:p>
            <a:pPr algn="ctr">
              <a:lnSpc>
                <a:spcPts val="7119"/>
              </a:lnSpc>
            </a:pPr>
            <a:r>
              <a:rPr lang="en-US" b="true" sz="6300" spc="-207">
                <a:solidFill>
                  <a:srgbClr val="5E4840"/>
                </a:solidFill>
                <a:latin typeface="Tex Gyre Termes Bold"/>
                <a:ea typeface="Tex Gyre Termes Bold"/>
                <a:cs typeface="Tex Gyre Termes Bold"/>
                <a:sym typeface="Tex Gyre Termes Bold"/>
              </a:rPr>
              <a:t>Evolusi Hubungan Negara, Swasta, dan Teknologi (1960–Sekarang): </a:t>
            </a:r>
          </a:p>
          <a:p>
            <a:pPr algn="ctr">
              <a:lnSpc>
                <a:spcPts val="7119"/>
              </a:lnSpc>
            </a:pPr>
            <a:r>
              <a:rPr lang="en-US" b="true" sz="6300" spc="-207">
                <a:solidFill>
                  <a:srgbClr val="5E4840"/>
                </a:solidFill>
                <a:latin typeface="Tex Gyre Termes Bold"/>
                <a:ea typeface="Tex Gyre Termes Bold"/>
                <a:cs typeface="Tex Gyre Termes Bold"/>
                <a:sym typeface="Tex Gyre Termes Bold"/>
              </a:rPr>
              <a:t>Peran Hacking Culture serta Open dan Closed Source dalam Perspektif Ideologi.</a:t>
            </a:r>
          </a:p>
        </p:txBody>
      </p:sp>
      <p:sp>
        <p:nvSpPr>
          <p:cNvPr name="TextBox 12" id="12"/>
          <p:cNvSpPr txBox="true"/>
          <p:nvPr/>
        </p:nvSpPr>
        <p:spPr>
          <a:xfrm rot="0">
            <a:off x="5437542" y="8514261"/>
            <a:ext cx="7643876" cy="325106"/>
          </a:xfrm>
          <a:prstGeom prst="rect">
            <a:avLst/>
          </a:prstGeom>
        </p:spPr>
        <p:txBody>
          <a:bodyPr anchor="t" rtlCol="false" tIns="0" lIns="0" bIns="0" rIns="0">
            <a:spAutoFit/>
          </a:bodyPr>
          <a:lstStyle/>
          <a:p>
            <a:pPr algn="ctr">
              <a:lnSpc>
                <a:spcPts val="2279"/>
              </a:lnSpc>
            </a:pPr>
            <a:r>
              <a:rPr lang="en-US" b="true" sz="2532" i="true" spc="-50">
                <a:solidFill>
                  <a:srgbClr val="2E1F13"/>
                </a:solidFill>
                <a:latin typeface="Arimo Bold Italics"/>
                <a:ea typeface="Arimo Bold Italics"/>
                <a:cs typeface="Arimo Bold Italics"/>
                <a:sym typeface="Arimo Bold Italics"/>
              </a:rPr>
              <a:t>KELOMPOK 3</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000500"/>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4230" y="-4688138"/>
            <a:ext cx="15430500" cy="6200255"/>
          </a:xfrm>
          <a:custGeom>
            <a:avLst/>
            <a:gdLst/>
            <a:ahLst/>
            <a:cxnLst/>
            <a:rect r="r" b="b" t="t" l="l"/>
            <a:pathLst>
              <a:path h="6200255" w="15430500">
                <a:moveTo>
                  <a:pt x="0" y="0"/>
                </a:moveTo>
                <a:lnTo>
                  <a:pt x="15430500" y="0"/>
                </a:lnTo>
                <a:lnTo>
                  <a:pt x="15430500" y="6200256"/>
                </a:lnTo>
                <a:lnTo>
                  <a:pt x="0" y="62002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417634" y="-2388268"/>
            <a:ext cx="6552129" cy="6063698"/>
          </a:xfrm>
          <a:custGeom>
            <a:avLst/>
            <a:gdLst/>
            <a:ahLst/>
            <a:cxnLst/>
            <a:rect r="r" b="b" t="t" l="l"/>
            <a:pathLst>
              <a:path h="6063698" w="6552129">
                <a:moveTo>
                  <a:pt x="0" y="0"/>
                </a:moveTo>
                <a:lnTo>
                  <a:pt x="6552129" y="0"/>
                </a:lnTo>
                <a:lnTo>
                  <a:pt x="6552129" y="6063697"/>
                </a:lnTo>
                <a:lnTo>
                  <a:pt x="0" y="60636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3837029" y="-2556711"/>
            <a:ext cx="6552129" cy="6063698"/>
          </a:xfrm>
          <a:custGeom>
            <a:avLst/>
            <a:gdLst/>
            <a:ahLst/>
            <a:cxnLst/>
            <a:rect r="r" b="b" t="t" l="l"/>
            <a:pathLst>
              <a:path h="6063698" w="6552129">
                <a:moveTo>
                  <a:pt x="6552129" y="0"/>
                </a:moveTo>
                <a:lnTo>
                  <a:pt x="0" y="0"/>
                </a:lnTo>
                <a:lnTo>
                  <a:pt x="0" y="6063698"/>
                </a:lnTo>
                <a:lnTo>
                  <a:pt x="6552129" y="6063698"/>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28750" y="8839368"/>
            <a:ext cx="15430500" cy="6200255"/>
          </a:xfrm>
          <a:custGeom>
            <a:avLst/>
            <a:gdLst/>
            <a:ahLst/>
            <a:cxnLst/>
            <a:rect r="r" b="b" t="t" l="l"/>
            <a:pathLst>
              <a:path h="6200255" w="15430500">
                <a:moveTo>
                  <a:pt x="0" y="0"/>
                </a:moveTo>
                <a:lnTo>
                  <a:pt x="15430500" y="0"/>
                </a:lnTo>
                <a:lnTo>
                  <a:pt x="15430500" y="6200255"/>
                </a:lnTo>
                <a:lnTo>
                  <a:pt x="0" y="62002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1731834" y="7255151"/>
            <a:ext cx="6552129" cy="6063698"/>
          </a:xfrm>
          <a:custGeom>
            <a:avLst/>
            <a:gdLst/>
            <a:ahLst/>
            <a:cxnLst/>
            <a:rect r="r" b="b" t="t" l="l"/>
            <a:pathLst>
              <a:path h="6063698" w="6552129">
                <a:moveTo>
                  <a:pt x="6552129" y="0"/>
                </a:moveTo>
                <a:lnTo>
                  <a:pt x="0" y="0"/>
                </a:lnTo>
                <a:lnTo>
                  <a:pt x="0" y="6063698"/>
                </a:lnTo>
                <a:lnTo>
                  <a:pt x="6552129" y="6063698"/>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2888457" y="7255151"/>
            <a:ext cx="6552129" cy="6063698"/>
          </a:xfrm>
          <a:custGeom>
            <a:avLst/>
            <a:gdLst/>
            <a:ahLst/>
            <a:cxnLst/>
            <a:rect r="r" b="b" t="t" l="l"/>
            <a:pathLst>
              <a:path h="6063698" w="6552129">
                <a:moveTo>
                  <a:pt x="0" y="0"/>
                </a:moveTo>
                <a:lnTo>
                  <a:pt x="6552129" y="0"/>
                </a:lnTo>
                <a:lnTo>
                  <a:pt x="6552129" y="6063698"/>
                </a:lnTo>
                <a:lnTo>
                  <a:pt x="0" y="6063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4134495" y="1742679"/>
            <a:ext cx="10026293" cy="922364"/>
          </a:xfrm>
          <a:prstGeom prst="rect">
            <a:avLst/>
          </a:prstGeom>
        </p:spPr>
        <p:txBody>
          <a:bodyPr anchor="t" rtlCol="false" tIns="0" lIns="0" bIns="0" rIns="0">
            <a:spAutoFit/>
          </a:bodyPr>
          <a:lstStyle/>
          <a:p>
            <a:pPr algn="ctr">
              <a:lnSpc>
                <a:spcPts val="6713"/>
              </a:lnSpc>
            </a:pPr>
            <a:r>
              <a:rPr lang="en-US" b="true" sz="7459" spc="-149">
                <a:solidFill>
                  <a:srgbClr val="2E1F13"/>
                </a:solidFill>
                <a:latin typeface="Tex Gyre Termes Bold"/>
                <a:ea typeface="Tex Gyre Termes Bold"/>
                <a:cs typeface="Tex Gyre Termes Bold"/>
                <a:sym typeface="Tex Gyre Termes Bold"/>
              </a:rPr>
              <a:t>Anggota Kelompok</a:t>
            </a:r>
          </a:p>
        </p:txBody>
      </p:sp>
      <p:sp>
        <p:nvSpPr>
          <p:cNvPr name="TextBox 10" id="10"/>
          <p:cNvSpPr txBox="true"/>
          <p:nvPr/>
        </p:nvSpPr>
        <p:spPr>
          <a:xfrm rot="0">
            <a:off x="5012120" y="2916926"/>
            <a:ext cx="8241217" cy="1462317"/>
          </a:xfrm>
          <a:prstGeom prst="rect">
            <a:avLst/>
          </a:prstGeom>
        </p:spPr>
        <p:txBody>
          <a:bodyPr anchor="t" rtlCol="false" tIns="0" lIns="0" bIns="0" rIns="0">
            <a:spAutoFit/>
          </a:bodyPr>
          <a:lstStyle/>
          <a:p>
            <a:pPr algn="ctr">
              <a:lnSpc>
                <a:spcPts val="5517"/>
              </a:lnSpc>
            </a:pPr>
            <a:r>
              <a:rPr lang="en-US" sz="6131" i="true" spc="-122">
                <a:solidFill>
                  <a:srgbClr val="2E1F13"/>
                </a:solidFill>
                <a:latin typeface="Tex Gyre Termes Italics"/>
                <a:ea typeface="Tex Gyre Termes Italics"/>
                <a:cs typeface="Tex Gyre Termes Italics"/>
                <a:sym typeface="Tex Gyre Termes Italics"/>
              </a:rPr>
              <a:t>Nada Syamila Nurbito</a:t>
            </a:r>
          </a:p>
          <a:p>
            <a:pPr algn="ctr">
              <a:lnSpc>
                <a:spcPts val="5517"/>
              </a:lnSpc>
            </a:pPr>
            <a:r>
              <a:rPr lang="en-US" sz="6131" i="true" spc="-122">
                <a:solidFill>
                  <a:srgbClr val="2E1F13"/>
                </a:solidFill>
                <a:latin typeface="Tex Gyre Termes Italics"/>
                <a:ea typeface="Tex Gyre Termes Italics"/>
                <a:cs typeface="Tex Gyre Termes Italics"/>
                <a:sym typeface="Tex Gyre Termes Italics"/>
              </a:rPr>
              <a:t>NIM: 12402051050134</a:t>
            </a:r>
          </a:p>
        </p:txBody>
      </p:sp>
      <p:sp>
        <p:nvSpPr>
          <p:cNvPr name="TextBox 11" id="11"/>
          <p:cNvSpPr txBox="true"/>
          <p:nvPr/>
        </p:nvSpPr>
        <p:spPr>
          <a:xfrm rot="0">
            <a:off x="5012120" y="4777703"/>
            <a:ext cx="8241217" cy="1462317"/>
          </a:xfrm>
          <a:prstGeom prst="rect">
            <a:avLst/>
          </a:prstGeom>
        </p:spPr>
        <p:txBody>
          <a:bodyPr anchor="t" rtlCol="false" tIns="0" lIns="0" bIns="0" rIns="0">
            <a:spAutoFit/>
          </a:bodyPr>
          <a:lstStyle/>
          <a:p>
            <a:pPr algn="ctr">
              <a:lnSpc>
                <a:spcPts val="5517"/>
              </a:lnSpc>
            </a:pPr>
            <a:r>
              <a:rPr lang="en-US" sz="6131" i="true" spc="-122">
                <a:solidFill>
                  <a:srgbClr val="2E1F13"/>
                </a:solidFill>
                <a:latin typeface="Tex Gyre Termes Italics"/>
                <a:ea typeface="Tex Gyre Termes Italics"/>
                <a:cs typeface="Tex Gyre Termes Italics"/>
                <a:sym typeface="Tex Gyre Termes Italics"/>
              </a:rPr>
              <a:t>Nadya Fatma Salsabila </a:t>
            </a:r>
          </a:p>
          <a:p>
            <a:pPr algn="ctr">
              <a:lnSpc>
                <a:spcPts val="5517"/>
              </a:lnSpc>
            </a:pPr>
            <a:r>
              <a:rPr lang="en-US" sz="6131" i="true" spc="-122">
                <a:solidFill>
                  <a:srgbClr val="2E1F13"/>
                </a:solidFill>
                <a:latin typeface="Tex Gyre Termes Italics"/>
                <a:ea typeface="Tex Gyre Termes Italics"/>
                <a:cs typeface="Tex Gyre Termes Italics"/>
                <a:sym typeface="Tex Gyre Termes Italics"/>
              </a:rPr>
              <a:t>NIM: 12402051030079</a:t>
            </a:r>
          </a:p>
        </p:txBody>
      </p:sp>
      <p:sp>
        <p:nvSpPr>
          <p:cNvPr name="TextBox 12" id="12"/>
          <p:cNvSpPr txBox="true"/>
          <p:nvPr/>
        </p:nvSpPr>
        <p:spPr>
          <a:xfrm rot="0">
            <a:off x="5012120" y="6638480"/>
            <a:ext cx="8241217" cy="1462317"/>
          </a:xfrm>
          <a:prstGeom prst="rect">
            <a:avLst/>
          </a:prstGeom>
        </p:spPr>
        <p:txBody>
          <a:bodyPr anchor="t" rtlCol="false" tIns="0" lIns="0" bIns="0" rIns="0">
            <a:spAutoFit/>
          </a:bodyPr>
          <a:lstStyle/>
          <a:p>
            <a:pPr algn="ctr">
              <a:lnSpc>
                <a:spcPts val="5517"/>
              </a:lnSpc>
            </a:pPr>
            <a:r>
              <a:rPr lang="en-US" sz="6131" i="true" spc="-122">
                <a:solidFill>
                  <a:srgbClr val="2E1F13"/>
                </a:solidFill>
                <a:latin typeface="Tex Gyre Termes Italics"/>
                <a:ea typeface="Tex Gyre Termes Italics"/>
                <a:cs typeface="Tex Gyre Termes Italics"/>
                <a:sym typeface="Tex Gyre Termes Italics"/>
              </a:rPr>
              <a:t>Zhafarina Tijani Athaya</a:t>
            </a:r>
          </a:p>
          <a:p>
            <a:pPr algn="ctr">
              <a:lnSpc>
                <a:spcPts val="5517"/>
              </a:lnSpc>
            </a:pPr>
            <a:r>
              <a:rPr lang="en-US" sz="6131" i="true" spc="-122">
                <a:solidFill>
                  <a:srgbClr val="2E1F13"/>
                </a:solidFill>
                <a:latin typeface="Tex Gyre Termes Italics"/>
                <a:ea typeface="Tex Gyre Termes Italics"/>
                <a:cs typeface="Tex Gyre Termes Italics"/>
                <a:sym typeface="Tex Gyre Termes Italics"/>
              </a:rPr>
              <a:t>NIM: 12402051050138</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000500"/>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4230" y="-4688138"/>
            <a:ext cx="15430500" cy="6200255"/>
          </a:xfrm>
          <a:custGeom>
            <a:avLst/>
            <a:gdLst/>
            <a:ahLst/>
            <a:cxnLst/>
            <a:rect r="r" b="b" t="t" l="l"/>
            <a:pathLst>
              <a:path h="6200255" w="15430500">
                <a:moveTo>
                  <a:pt x="0" y="0"/>
                </a:moveTo>
                <a:lnTo>
                  <a:pt x="15430500" y="0"/>
                </a:lnTo>
                <a:lnTo>
                  <a:pt x="15430500" y="6200256"/>
                </a:lnTo>
                <a:lnTo>
                  <a:pt x="0" y="62002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417634" y="-2388268"/>
            <a:ext cx="6552129" cy="6063698"/>
          </a:xfrm>
          <a:custGeom>
            <a:avLst/>
            <a:gdLst/>
            <a:ahLst/>
            <a:cxnLst/>
            <a:rect r="r" b="b" t="t" l="l"/>
            <a:pathLst>
              <a:path h="6063698" w="6552129">
                <a:moveTo>
                  <a:pt x="0" y="0"/>
                </a:moveTo>
                <a:lnTo>
                  <a:pt x="6552129" y="0"/>
                </a:lnTo>
                <a:lnTo>
                  <a:pt x="6552129" y="6063697"/>
                </a:lnTo>
                <a:lnTo>
                  <a:pt x="0" y="60636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3837029" y="-2556711"/>
            <a:ext cx="6552129" cy="6063698"/>
          </a:xfrm>
          <a:custGeom>
            <a:avLst/>
            <a:gdLst/>
            <a:ahLst/>
            <a:cxnLst/>
            <a:rect r="r" b="b" t="t" l="l"/>
            <a:pathLst>
              <a:path h="6063698" w="6552129">
                <a:moveTo>
                  <a:pt x="6552129" y="0"/>
                </a:moveTo>
                <a:lnTo>
                  <a:pt x="0" y="0"/>
                </a:lnTo>
                <a:lnTo>
                  <a:pt x="0" y="6063698"/>
                </a:lnTo>
                <a:lnTo>
                  <a:pt x="6552129" y="6063698"/>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28750" y="8839368"/>
            <a:ext cx="15430500" cy="6200255"/>
          </a:xfrm>
          <a:custGeom>
            <a:avLst/>
            <a:gdLst/>
            <a:ahLst/>
            <a:cxnLst/>
            <a:rect r="r" b="b" t="t" l="l"/>
            <a:pathLst>
              <a:path h="6200255" w="15430500">
                <a:moveTo>
                  <a:pt x="0" y="0"/>
                </a:moveTo>
                <a:lnTo>
                  <a:pt x="15430500" y="0"/>
                </a:lnTo>
                <a:lnTo>
                  <a:pt x="15430500" y="6200255"/>
                </a:lnTo>
                <a:lnTo>
                  <a:pt x="0" y="62002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1731834" y="7255151"/>
            <a:ext cx="6552129" cy="6063698"/>
          </a:xfrm>
          <a:custGeom>
            <a:avLst/>
            <a:gdLst/>
            <a:ahLst/>
            <a:cxnLst/>
            <a:rect r="r" b="b" t="t" l="l"/>
            <a:pathLst>
              <a:path h="6063698" w="6552129">
                <a:moveTo>
                  <a:pt x="6552129" y="0"/>
                </a:moveTo>
                <a:lnTo>
                  <a:pt x="0" y="0"/>
                </a:lnTo>
                <a:lnTo>
                  <a:pt x="0" y="6063698"/>
                </a:lnTo>
                <a:lnTo>
                  <a:pt x="6552129" y="6063698"/>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500145" y="7255151"/>
            <a:ext cx="6552129" cy="6063698"/>
          </a:xfrm>
          <a:custGeom>
            <a:avLst/>
            <a:gdLst/>
            <a:ahLst/>
            <a:cxnLst/>
            <a:rect r="r" b="b" t="t" l="l"/>
            <a:pathLst>
              <a:path h="6063698" w="6552129">
                <a:moveTo>
                  <a:pt x="0" y="0"/>
                </a:moveTo>
                <a:lnTo>
                  <a:pt x="6552129" y="0"/>
                </a:lnTo>
                <a:lnTo>
                  <a:pt x="6552129" y="6063698"/>
                </a:lnTo>
                <a:lnTo>
                  <a:pt x="0" y="6063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2126582" y="1920892"/>
            <a:ext cx="14265797" cy="661381"/>
          </a:xfrm>
          <a:prstGeom prst="rect">
            <a:avLst/>
          </a:prstGeom>
        </p:spPr>
        <p:txBody>
          <a:bodyPr anchor="t" rtlCol="false" tIns="0" lIns="0" bIns="0" rIns="0">
            <a:spAutoFit/>
          </a:bodyPr>
          <a:lstStyle/>
          <a:p>
            <a:pPr algn="ctr">
              <a:lnSpc>
                <a:spcPts val="4823"/>
              </a:lnSpc>
            </a:pPr>
            <a:r>
              <a:rPr lang="en-US" b="true" sz="5359" spc="-107">
                <a:solidFill>
                  <a:srgbClr val="2E1F13"/>
                </a:solidFill>
                <a:latin typeface="Tex Gyre Termes Bold"/>
                <a:ea typeface="Tex Gyre Termes Bold"/>
                <a:cs typeface="Tex Gyre Termes Bold"/>
                <a:sym typeface="Tex Gyre Termes Bold"/>
              </a:rPr>
              <a:t>Sejarah hubungan antara Negara dan Teknologi</a:t>
            </a:r>
          </a:p>
        </p:txBody>
      </p:sp>
      <p:sp>
        <p:nvSpPr>
          <p:cNvPr name="TextBox 10" id="10"/>
          <p:cNvSpPr txBox="true"/>
          <p:nvPr/>
        </p:nvSpPr>
        <p:spPr>
          <a:xfrm rot="0">
            <a:off x="2411686" y="2858497"/>
            <a:ext cx="13464629" cy="2477229"/>
          </a:xfrm>
          <a:prstGeom prst="rect">
            <a:avLst/>
          </a:prstGeom>
        </p:spPr>
        <p:txBody>
          <a:bodyPr anchor="t" rtlCol="false" tIns="0" lIns="0" bIns="0" rIns="0">
            <a:spAutoFit/>
          </a:bodyPr>
          <a:lstStyle/>
          <a:p>
            <a:pPr algn="just">
              <a:lnSpc>
                <a:spcPts val="2845"/>
              </a:lnSpc>
            </a:pPr>
            <a:r>
              <a:rPr lang="en-US" sz="2563">
                <a:solidFill>
                  <a:srgbClr val="2E1F13"/>
                </a:solidFill>
                <a:latin typeface="Touvlo"/>
                <a:ea typeface="Touvlo"/>
                <a:cs typeface="Touvlo"/>
                <a:sym typeface="Touvlo"/>
              </a:rPr>
              <a:t>Pada tahun 1960-an, perkembangan teknologi sangat bergantung pada </a:t>
            </a:r>
            <a:r>
              <a:rPr lang="en-US" sz="2563">
                <a:solidFill>
                  <a:srgbClr val="2E1F13"/>
                </a:solidFill>
                <a:latin typeface="Touvlo"/>
                <a:ea typeface="Touvlo"/>
                <a:cs typeface="Touvlo"/>
                <a:sym typeface="Touvlo"/>
              </a:rPr>
              <a:t>pe</a:t>
            </a:r>
            <a:r>
              <a:rPr lang="en-US" sz="2563">
                <a:solidFill>
                  <a:srgbClr val="2E1F13"/>
                </a:solidFill>
                <a:latin typeface="Touvlo"/>
                <a:ea typeface="Touvlo"/>
                <a:cs typeface="Touvlo"/>
                <a:sym typeface="Touvlo"/>
              </a:rPr>
              <a:t>ra</a:t>
            </a:r>
            <a:r>
              <a:rPr lang="en-US" sz="2563">
                <a:solidFill>
                  <a:srgbClr val="2E1F13"/>
                </a:solidFill>
                <a:latin typeface="Touvlo"/>
                <a:ea typeface="Touvlo"/>
                <a:cs typeface="Touvlo"/>
                <a:sym typeface="Touvlo"/>
              </a:rPr>
              <a:t>n</a:t>
            </a:r>
            <a:r>
              <a:rPr lang="en-US" sz="2563">
                <a:solidFill>
                  <a:srgbClr val="2E1F13"/>
                </a:solidFill>
                <a:latin typeface="Touvlo"/>
                <a:ea typeface="Touvlo"/>
                <a:cs typeface="Touvlo"/>
                <a:sym typeface="Touvlo"/>
              </a:rPr>
              <a:t> n</a:t>
            </a:r>
            <a:r>
              <a:rPr lang="en-US" sz="2563">
                <a:solidFill>
                  <a:srgbClr val="2E1F13"/>
                </a:solidFill>
                <a:latin typeface="Touvlo"/>
                <a:ea typeface="Touvlo"/>
                <a:cs typeface="Touvlo"/>
                <a:sym typeface="Touvlo"/>
              </a:rPr>
              <a:t>e</a:t>
            </a:r>
            <a:r>
              <a:rPr lang="en-US" sz="2563">
                <a:solidFill>
                  <a:srgbClr val="2E1F13"/>
                </a:solidFill>
                <a:latin typeface="Touvlo"/>
                <a:ea typeface="Touvlo"/>
                <a:cs typeface="Touvlo"/>
                <a:sym typeface="Touvlo"/>
              </a:rPr>
              <a:t>gara, khususnya melalui lembaga militer seperti ARPA yang didirikan pada 1958. Negara memberikan pendanaan besar untuk penelitian, t</a:t>
            </a:r>
            <a:r>
              <a:rPr lang="en-US" sz="2563">
                <a:solidFill>
                  <a:srgbClr val="2E1F13"/>
                </a:solidFill>
                <a:latin typeface="Touvlo"/>
                <a:ea typeface="Touvlo"/>
                <a:cs typeface="Touvlo"/>
                <a:sym typeface="Touvlo"/>
              </a:rPr>
              <a:t>e</a:t>
            </a:r>
            <a:r>
              <a:rPr lang="en-US" sz="2563">
                <a:solidFill>
                  <a:srgbClr val="2E1F13"/>
                </a:solidFill>
                <a:latin typeface="Touvlo"/>
                <a:ea typeface="Touvlo"/>
                <a:cs typeface="Touvlo"/>
                <a:sym typeface="Touvlo"/>
              </a:rPr>
              <a:t>rma</a:t>
            </a:r>
            <a:r>
              <a:rPr lang="en-US" sz="2563">
                <a:solidFill>
                  <a:srgbClr val="2E1F13"/>
                </a:solidFill>
                <a:latin typeface="Touvlo"/>
                <a:ea typeface="Touvlo"/>
                <a:cs typeface="Touvlo"/>
                <a:sym typeface="Touvlo"/>
              </a:rPr>
              <a:t>su</a:t>
            </a:r>
            <a:r>
              <a:rPr lang="en-US" sz="2563">
                <a:solidFill>
                  <a:srgbClr val="2E1F13"/>
                </a:solidFill>
                <a:latin typeface="Touvlo"/>
                <a:ea typeface="Touvlo"/>
                <a:cs typeface="Touvlo"/>
                <a:sym typeface="Touvlo"/>
              </a:rPr>
              <a:t>k pengembangan ARPANET yang menjadi cikal bakal internet. Memasuki tahun 1970-an, universitas mulai berperan dengan mendanai ilmuwan dan menyediakan fasilitas penelitian, sehingga teknologi berkembang dari sekedar riset menjadi inovasi nyata. Pada masa ini juga, ARPANET mulai menghubungkan para </a:t>
            </a:r>
            <a:r>
              <a:rPr lang="en-US" sz="2563">
                <a:solidFill>
                  <a:srgbClr val="2E1F13"/>
                </a:solidFill>
                <a:latin typeface="Touvlo"/>
                <a:ea typeface="Touvlo"/>
                <a:cs typeface="Touvlo"/>
                <a:sym typeface="Touvlo"/>
              </a:rPr>
              <a:t>pene</a:t>
            </a:r>
            <a:r>
              <a:rPr lang="en-US" sz="2563">
                <a:solidFill>
                  <a:srgbClr val="2E1F13"/>
                </a:solidFill>
                <a:latin typeface="Touvlo"/>
                <a:ea typeface="Touvlo"/>
                <a:cs typeface="Touvlo"/>
                <a:sym typeface="Touvlo"/>
              </a:rPr>
              <a:t>liti dari b</a:t>
            </a:r>
            <a:r>
              <a:rPr lang="en-US" sz="2563">
                <a:solidFill>
                  <a:srgbClr val="2E1F13"/>
                </a:solidFill>
                <a:latin typeface="Touvlo"/>
                <a:ea typeface="Touvlo"/>
                <a:cs typeface="Touvlo"/>
                <a:sym typeface="Touvlo"/>
              </a:rPr>
              <a:t>e</a:t>
            </a:r>
            <a:r>
              <a:rPr lang="en-US" sz="2563">
                <a:solidFill>
                  <a:srgbClr val="2E1F13"/>
                </a:solidFill>
                <a:latin typeface="Touvlo"/>
                <a:ea typeface="Touvlo"/>
                <a:cs typeface="Touvlo"/>
                <a:sym typeface="Touvlo"/>
              </a:rPr>
              <a:t>rbagai</a:t>
            </a:r>
            <a:r>
              <a:rPr lang="en-US" sz="2563">
                <a:solidFill>
                  <a:srgbClr val="2E1F13"/>
                </a:solidFill>
                <a:latin typeface="Touvlo"/>
                <a:ea typeface="Touvlo"/>
                <a:cs typeface="Touvlo"/>
                <a:sym typeface="Touvlo"/>
              </a:rPr>
              <a:t> </a:t>
            </a:r>
            <a:r>
              <a:rPr lang="en-US" sz="2563">
                <a:solidFill>
                  <a:srgbClr val="2E1F13"/>
                </a:solidFill>
                <a:latin typeface="Touvlo"/>
                <a:ea typeface="Touvlo"/>
                <a:cs typeface="Touvlo"/>
                <a:sym typeface="Touvlo"/>
              </a:rPr>
              <a:t>kampu</a:t>
            </a:r>
            <a:r>
              <a:rPr lang="en-US" sz="2563">
                <a:solidFill>
                  <a:srgbClr val="2E1F13"/>
                </a:solidFill>
                <a:latin typeface="Touvlo"/>
                <a:ea typeface="Touvlo"/>
                <a:cs typeface="Touvlo"/>
                <a:sym typeface="Touvlo"/>
              </a:rPr>
              <a:t>s.</a:t>
            </a:r>
          </a:p>
        </p:txBody>
      </p:sp>
      <p:sp>
        <p:nvSpPr>
          <p:cNvPr name="TextBox 11" id="11"/>
          <p:cNvSpPr txBox="true"/>
          <p:nvPr/>
        </p:nvSpPr>
        <p:spPr>
          <a:xfrm rot="0">
            <a:off x="2411686" y="5653599"/>
            <a:ext cx="13464629" cy="2886946"/>
          </a:xfrm>
          <a:prstGeom prst="rect">
            <a:avLst/>
          </a:prstGeom>
        </p:spPr>
        <p:txBody>
          <a:bodyPr anchor="t" rtlCol="false" tIns="0" lIns="0" bIns="0" rIns="0">
            <a:spAutoFit/>
          </a:bodyPr>
          <a:lstStyle/>
          <a:p>
            <a:pPr algn="just">
              <a:lnSpc>
                <a:spcPts val="2775"/>
              </a:lnSpc>
            </a:pPr>
            <a:r>
              <a:rPr lang="en-US" sz="2500" spc="17">
                <a:solidFill>
                  <a:srgbClr val="2E1F13"/>
                </a:solidFill>
                <a:latin typeface="Touvlo"/>
                <a:ea typeface="Touvlo"/>
                <a:cs typeface="Touvlo"/>
                <a:sym typeface="Touvlo"/>
              </a:rPr>
              <a:t>Pada periode 1979–1984, terjadi pergeseran penting ketika teknologi mulai dikomersialisasikan kepada sektor swasta, seperti perusahaan Apple dan Atari. Munculnya investor atau venture capital turut mendorong lahirnya berbagai startup teknologi. Peran negara pun berubah dari pengendali utama menjadi pendukung dan regulator. ARPA juga berkembang menjadi DARPA yang berfokus pada penelitian pertahanan tingkat tinggi. Seiring waktu, industri teknologi menjadi sangat berpengaruh secara ekonomi dan politik, sehingga hubungan antara negara dan teknologi menjadi saling bergantung.</a:t>
            </a:r>
          </a:p>
          <a:p>
            <a:pPr algn="just">
              <a:lnSpc>
                <a:spcPts val="888"/>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000500"/>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4230" y="-4688138"/>
            <a:ext cx="15430500" cy="6200255"/>
          </a:xfrm>
          <a:custGeom>
            <a:avLst/>
            <a:gdLst/>
            <a:ahLst/>
            <a:cxnLst/>
            <a:rect r="r" b="b" t="t" l="l"/>
            <a:pathLst>
              <a:path h="6200255" w="15430500">
                <a:moveTo>
                  <a:pt x="0" y="0"/>
                </a:moveTo>
                <a:lnTo>
                  <a:pt x="15430500" y="0"/>
                </a:lnTo>
                <a:lnTo>
                  <a:pt x="15430500" y="6200256"/>
                </a:lnTo>
                <a:lnTo>
                  <a:pt x="0" y="62002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417634" y="-2388268"/>
            <a:ext cx="6552129" cy="6063698"/>
          </a:xfrm>
          <a:custGeom>
            <a:avLst/>
            <a:gdLst/>
            <a:ahLst/>
            <a:cxnLst/>
            <a:rect r="r" b="b" t="t" l="l"/>
            <a:pathLst>
              <a:path h="6063698" w="6552129">
                <a:moveTo>
                  <a:pt x="0" y="0"/>
                </a:moveTo>
                <a:lnTo>
                  <a:pt x="6552129" y="0"/>
                </a:lnTo>
                <a:lnTo>
                  <a:pt x="6552129" y="6063697"/>
                </a:lnTo>
                <a:lnTo>
                  <a:pt x="0" y="60636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3837029" y="-2556711"/>
            <a:ext cx="6552129" cy="6063698"/>
          </a:xfrm>
          <a:custGeom>
            <a:avLst/>
            <a:gdLst/>
            <a:ahLst/>
            <a:cxnLst/>
            <a:rect r="r" b="b" t="t" l="l"/>
            <a:pathLst>
              <a:path h="6063698" w="6552129">
                <a:moveTo>
                  <a:pt x="6552129" y="0"/>
                </a:moveTo>
                <a:lnTo>
                  <a:pt x="0" y="0"/>
                </a:lnTo>
                <a:lnTo>
                  <a:pt x="0" y="6063698"/>
                </a:lnTo>
                <a:lnTo>
                  <a:pt x="6552129" y="6063698"/>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28750" y="8839368"/>
            <a:ext cx="15430500" cy="6200255"/>
          </a:xfrm>
          <a:custGeom>
            <a:avLst/>
            <a:gdLst/>
            <a:ahLst/>
            <a:cxnLst/>
            <a:rect r="r" b="b" t="t" l="l"/>
            <a:pathLst>
              <a:path h="6200255" w="15430500">
                <a:moveTo>
                  <a:pt x="0" y="0"/>
                </a:moveTo>
                <a:lnTo>
                  <a:pt x="15430500" y="0"/>
                </a:lnTo>
                <a:lnTo>
                  <a:pt x="15430500" y="6200255"/>
                </a:lnTo>
                <a:lnTo>
                  <a:pt x="0" y="62002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1731834" y="7255151"/>
            <a:ext cx="6552129" cy="6063698"/>
          </a:xfrm>
          <a:custGeom>
            <a:avLst/>
            <a:gdLst/>
            <a:ahLst/>
            <a:cxnLst/>
            <a:rect r="r" b="b" t="t" l="l"/>
            <a:pathLst>
              <a:path h="6063698" w="6552129">
                <a:moveTo>
                  <a:pt x="6552129" y="0"/>
                </a:moveTo>
                <a:lnTo>
                  <a:pt x="0" y="0"/>
                </a:lnTo>
                <a:lnTo>
                  <a:pt x="0" y="6063698"/>
                </a:lnTo>
                <a:lnTo>
                  <a:pt x="6552129" y="6063698"/>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500145" y="7255151"/>
            <a:ext cx="6552129" cy="6063698"/>
          </a:xfrm>
          <a:custGeom>
            <a:avLst/>
            <a:gdLst/>
            <a:ahLst/>
            <a:cxnLst/>
            <a:rect r="r" b="b" t="t" l="l"/>
            <a:pathLst>
              <a:path h="6063698" w="6552129">
                <a:moveTo>
                  <a:pt x="0" y="0"/>
                </a:moveTo>
                <a:lnTo>
                  <a:pt x="6552129" y="0"/>
                </a:lnTo>
                <a:lnTo>
                  <a:pt x="6552129" y="6063698"/>
                </a:lnTo>
                <a:lnTo>
                  <a:pt x="0" y="6063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2903268" y="3516512"/>
            <a:ext cx="12481463" cy="4203122"/>
          </a:xfrm>
          <a:prstGeom prst="rect">
            <a:avLst/>
          </a:prstGeom>
        </p:spPr>
        <p:txBody>
          <a:bodyPr anchor="t" rtlCol="false" tIns="0" lIns="0" bIns="0" rIns="0">
            <a:spAutoFit/>
          </a:bodyPr>
          <a:lstStyle/>
          <a:p>
            <a:pPr algn="just">
              <a:lnSpc>
                <a:spcPts val="3722"/>
              </a:lnSpc>
            </a:pPr>
            <a:r>
              <a:rPr lang="en-US" sz="3181" spc="22">
                <a:solidFill>
                  <a:srgbClr val="2E1F13"/>
                </a:solidFill>
                <a:latin typeface="Touvlo"/>
                <a:ea typeface="Touvlo"/>
                <a:cs typeface="Touvlo"/>
                <a:sym typeface="Touvlo"/>
              </a:rPr>
              <a:t>menurut pemikiran dalam buku The Wealth of Nations, inovasi teknologi justru berasal dari individu melalui pembagian kerja yang lebih spesifik, bukan dari negara. Oleh karena itu, negara sebaiknya memberikan kebebasan kepada individu untuk mengembangkan kreativitas dan inovasi. Peran ideal negara adalah terbatas pada pertahanan, penegakan hukum, dan pembangunan infrastruktur, karena campur tangan yang berlebihan justru dapat menghambat perkembangan teknologi dan pertumbuhan ekonomi.</a:t>
            </a:r>
          </a:p>
        </p:txBody>
      </p:sp>
      <p:sp>
        <p:nvSpPr>
          <p:cNvPr name="TextBox 10" id="10"/>
          <p:cNvSpPr txBox="true"/>
          <p:nvPr/>
        </p:nvSpPr>
        <p:spPr>
          <a:xfrm rot="0">
            <a:off x="2011101" y="2339283"/>
            <a:ext cx="14265797" cy="661381"/>
          </a:xfrm>
          <a:prstGeom prst="rect">
            <a:avLst/>
          </a:prstGeom>
        </p:spPr>
        <p:txBody>
          <a:bodyPr anchor="t" rtlCol="false" tIns="0" lIns="0" bIns="0" rIns="0">
            <a:spAutoFit/>
          </a:bodyPr>
          <a:lstStyle/>
          <a:p>
            <a:pPr algn="ctr">
              <a:lnSpc>
                <a:spcPts val="4823"/>
              </a:lnSpc>
            </a:pPr>
            <a:r>
              <a:rPr lang="en-US" b="true" sz="5359" spc="-107">
                <a:solidFill>
                  <a:srgbClr val="2E1F13"/>
                </a:solidFill>
                <a:latin typeface="Tex Gyre Termes Bold"/>
                <a:ea typeface="Tex Gyre Termes Bold"/>
                <a:cs typeface="Tex Gyre Termes Bold"/>
                <a:sym typeface="Tex Gyre Termes Bold"/>
              </a:rPr>
              <a:t>Sejarah hubungan antara Negara dan Teknologi</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000500"/>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4230" y="-4688138"/>
            <a:ext cx="15430500" cy="6200255"/>
          </a:xfrm>
          <a:custGeom>
            <a:avLst/>
            <a:gdLst/>
            <a:ahLst/>
            <a:cxnLst/>
            <a:rect r="r" b="b" t="t" l="l"/>
            <a:pathLst>
              <a:path h="6200255" w="15430500">
                <a:moveTo>
                  <a:pt x="0" y="0"/>
                </a:moveTo>
                <a:lnTo>
                  <a:pt x="15430500" y="0"/>
                </a:lnTo>
                <a:lnTo>
                  <a:pt x="15430500" y="6200256"/>
                </a:lnTo>
                <a:lnTo>
                  <a:pt x="0" y="62002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417634" y="-2388268"/>
            <a:ext cx="6552129" cy="6063698"/>
          </a:xfrm>
          <a:custGeom>
            <a:avLst/>
            <a:gdLst/>
            <a:ahLst/>
            <a:cxnLst/>
            <a:rect r="r" b="b" t="t" l="l"/>
            <a:pathLst>
              <a:path h="6063698" w="6552129">
                <a:moveTo>
                  <a:pt x="0" y="0"/>
                </a:moveTo>
                <a:lnTo>
                  <a:pt x="6552129" y="0"/>
                </a:lnTo>
                <a:lnTo>
                  <a:pt x="6552129" y="6063697"/>
                </a:lnTo>
                <a:lnTo>
                  <a:pt x="0" y="60636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3837029" y="-2556711"/>
            <a:ext cx="6552129" cy="6063698"/>
          </a:xfrm>
          <a:custGeom>
            <a:avLst/>
            <a:gdLst/>
            <a:ahLst/>
            <a:cxnLst/>
            <a:rect r="r" b="b" t="t" l="l"/>
            <a:pathLst>
              <a:path h="6063698" w="6552129">
                <a:moveTo>
                  <a:pt x="6552129" y="0"/>
                </a:moveTo>
                <a:lnTo>
                  <a:pt x="0" y="0"/>
                </a:lnTo>
                <a:lnTo>
                  <a:pt x="0" y="6063698"/>
                </a:lnTo>
                <a:lnTo>
                  <a:pt x="6552129" y="6063698"/>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28750" y="8839368"/>
            <a:ext cx="15430500" cy="6200255"/>
          </a:xfrm>
          <a:custGeom>
            <a:avLst/>
            <a:gdLst/>
            <a:ahLst/>
            <a:cxnLst/>
            <a:rect r="r" b="b" t="t" l="l"/>
            <a:pathLst>
              <a:path h="6200255" w="15430500">
                <a:moveTo>
                  <a:pt x="0" y="0"/>
                </a:moveTo>
                <a:lnTo>
                  <a:pt x="15430500" y="0"/>
                </a:lnTo>
                <a:lnTo>
                  <a:pt x="15430500" y="6200255"/>
                </a:lnTo>
                <a:lnTo>
                  <a:pt x="0" y="62002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1731834" y="7255151"/>
            <a:ext cx="6552129" cy="6063698"/>
          </a:xfrm>
          <a:custGeom>
            <a:avLst/>
            <a:gdLst/>
            <a:ahLst/>
            <a:cxnLst/>
            <a:rect r="r" b="b" t="t" l="l"/>
            <a:pathLst>
              <a:path h="6063698" w="6552129">
                <a:moveTo>
                  <a:pt x="6552129" y="0"/>
                </a:moveTo>
                <a:lnTo>
                  <a:pt x="0" y="0"/>
                </a:lnTo>
                <a:lnTo>
                  <a:pt x="0" y="6063698"/>
                </a:lnTo>
                <a:lnTo>
                  <a:pt x="6552129" y="6063698"/>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500145" y="7255151"/>
            <a:ext cx="6552129" cy="6063698"/>
          </a:xfrm>
          <a:custGeom>
            <a:avLst/>
            <a:gdLst/>
            <a:ahLst/>
            <a:cxnLst/>
            <a:rect r="r" b="b" t="t" l="l"/>
            <a:pathLst>
              <a:path h="6063698" w="6552129">
                <a:moveTo>
                  <a:pt x="0" y="0"/>
                </a:moveTo>
                <a:lnTo>
                  <a:pt x="6552129" y="0"/>
                </a:lnTo>
                <a:lnTo>
                  <a:pt x="6552129" y="6063698"/>
                </a:lnTo>
                <a:lnTo>
                  <a:pt x="0" y="6063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2229985" y="2149971"/>
            <a:ext cx="13464629" cy="661381"/>
          </a:xfrm>
          <a:prstGeom prst="rect">
            <a:avLst/>
          </a:prstGeom>
        </p:spPr>
        <p:txBody>
          <a:bodyPr anchor="t" rtlCol="false" tIns="0" lIns="0" bIns="0" rIns="0">
            <a:spAutoFit/>
          </a:bodyPr>
          <a:lstStyle/>
          <a:p>
            <a:pPr algn="ctr">
              <a:lnSpc>
                <a:spcPts val="4823"/>
              </a:lnSpc>
            </a:pPr>
            <a:r>
              <a:rPr lang="en-US" b="true" sz="5359" spc="-107">
                <a:solidFill>
                  <a:srgbClr val="2E1F13"/>
                </a:solidFill>
                <a:latin typeface="Tex Gyre Termes Bold"/>
                <a:ea typeface="Tex Gyre Termes Bold"/>
                <a:cs typeface="Tex Gyre Termes Bold"/>
                <a:sym typeface="Tex Gyre Termes Bold"/>
              </a:rPr>
              <a:t>Sejarah hubungan antara Swasta dan Teknologi</a:t>
            </a:r>
          </a:p>
        </p:txBody>
      </p:sp>
      <p:sp>
        <p:nvSpPr>
          <p:cNvPr name="TextBox 10" id="10"/>
          <p:cNvSpPr txBox="true"/>
          <p:nvPr/>
        </p:nvSpPr>
        <p:spPr>
          <a:xfrm rot="0">
            <a:off x="2229985" y="3306329"/>
            <a:ext cx="13464629" cy="2978555"/>
          </a:xfrm>
          <a:prstGeom prst="rect">
            <a:avLst/>
          </a:prstGeom>
        </p:spPr>
        <p:txBody>
          <a:bodyPr anchor="t" rtlCol="false" tIns="0" lIns="0" bIns="0" rIns="0">
            <a:spAutoFit/>
          </a:bodyPr>
          <a:lstStyle/>
          <a:p>
            <a:pPr algn="just">
              <a:lnSpc>
                <a:spcPts val="2948"/>
              </a:lnSpc>
            </a:pPr>
            <a:r>
              <a:rPr lang="en-US" sz="2563" spc="17">
                <a:solidFill>
                  <a:srgbClr val="2E1F13"/>
                </a:solidFill>
                <a:latin typeface="Touvlo"/>
                <a:ea typeface="Touvlo"/>
                <a:cs typeface="Touvlo"/>
                <a:sym typeface="Touvlo"/>
              </a:rPr>
              <a:t>Pada tahun 1960-an, perusahaan swasta belum menciptakan teknologi sendiri, melainka</a:t>
            </a:r>
            <a:r>
              <a:rPr lang="en-US" sz="2563" spc="17">
                <a:solidFill>
                  <a:srgbClr val="2E1F13"/>
                </a:solidFill>
                <a:latin typeface="Touvlo"/>
                <a:ea typeface="Touvlo"/>
                <a:cs typeface="Touvlo"/>
                <a:sym typeface="Touvlo"/>
              </a:rPr>
              <a:t>n</a:t>
            </a:r>
            <a:r>
              <a:rPr lang="en-US" sz="2563" spc="17">
                <a:solidFill>
                  <a:srgbClr val="2E1F13"/>
                </a:solidFill>
                <a:latin typeface="Touvlo"/>
                <a:ea typeface="Touvlo"/>
                <a:cs typeface="Touvlo"/>
                <a:sym typeface="Touvlo"/>
              </a:rPr>
              <a:t> hanya mengembangkan hasil riset. Memasuki tahun 1970-an, </a:t>
            </a:r>
            <a:r>
              <a:rPr lang="en-US" sz="2563" spc="17">
                <a:solidFill>
                  <a:srgbClr val="2E1F13"/>
                </a:solidFill>
                <a:latin typeface="Touvlo"/>
                <a:ea typeface="Touvlo"/>
                <a:cs typeface="Touvlo"/>
                <a:sym typeface="Touvlo"/>
              </a:rPr>
              <a:t>s</a:t>
            </a:r>
            <a:r>
              <a:rPr lang="en-US" sz="2563" spc="17">
                <a:solidFill>
                  <a:srgbClr val="2E1F13"/>
                </a:solidFill>
                <a:latin typeface="Touvlo"/>
                <a:ea typeface="Touvlo"/>
                <a:cs typeface="Touvlo"/>
                <a:sym typeface="Touvlo"/>
              </a:rPr>
              <a:t>wa</a:t>
            </a:r>
            <a:r>
              <a:rPr lang="en-US" sz="2563" spc="17">
                <a:solidFill>
                  <a:srgbClr val="2E1F13"/>
                </a:solidFill>
                <a:latin typeface="Touvlo"/>
                <a:ea typeface="Touvlo"/>
                <a:cs typeface="Touvlo"/>
                <a:sym typeface="Touvlo"/>
              </a:rPr>
              <a:t>s</a:t>
            </a:r>
            <a:r>
              <a:rPr lang="en-US" sz="2563" spc="17">
                <a:solidFill>
                  <a:srgbClr val="2E1F13"/>
                </a:solidFill>
                <a:latin typeface="Touvlo"/>
                <a:ea typeface="Touvlo"/>
                <a:cs typeface="Touvlo"/>
                <a:sym typeface="Touvlo"/>
              </a:rPr>
              <a:t>ta m</a:t>
            </a:r>
            <a:r>
              <a:rPr lang="en-US" sz="2563" spc="17">
                <a:solidFill>
                  <a:srgbClr val="2E1F13"/>
                </a:solidFill>
                <a:latin typeface="Touvlo"/>
                <a:ea typeface="Touvlo"/>
                <a:cs typeface="Touvlo"/>
                <a:sym typeface="Touvlo"/>
              </a:rPr>
              <a:t>u</a:t>
            </a:r>
            <a:r>
              <a:rPr lang="en-US" sz="2563" spc="17">
                <a:solidFill>
                  <a:srgbClr val="2E1F13"/>
                </a:solidFill>
                <a:latin typeface="Touvlo"/>
                <a:ea typeface="Touvlo"/>
                <a:cs typeface="Touvlo"/>
                <a:sym typeface="Touvlo"/>
              </a:rPr>
              <a:t>lai mendirikan perusahaan teknologi, terutama di bidang software, dan berfokus mengubah teknologi menjadi produk yang dapat dijual. Pada periode 1983–1984, hubungan swasta dan teknologi semakin kuat dengan munculnya venture capital yang mendanai startup, berkembangnya produksi massal seperti komputer pribadi dan software, serta meningkatnya persaingan yang m</a:t>
            </a:r>
            <a:r>
              <a:rPr lang="en-US" sz="2563" spc="17">
                <a:solidFill>
                  <a:srgbClr val="2E1F13"/>
                </a:solidFill>
                <a:latin typeface="Touvlo"/>
                <a:ea typeface="Touvlo"/>
                <a:cs typeface="Touvlo"/>
                <a:sym typeface="Touvlo"/>
              </a:rPr>
              <a:t>en</a:t>
            </a:r>
            <a:r>
              <a:rPr lang="en-US" sz="2563" spc="17">
                <a:solidFill>
                  <a:srgbClr val="2E1F13"/>
                </a:solidFill>
                <a:latin typeface="Touvlo"/>
                <a:ea typeface="Touvlo"/>
                <a:cs typeface="Touvlo"/>
                <a:sym typeface="Touvlo"/>
              </a:rPr>
              <a:t>d</a:t>
            </a:r>
            <a:r>
              <a:rPr lang="en-US" sz="2563" spc="17">
                <a:solidFill>
                  <a:srgbClr val="2E1F13"/>
                </a:solidFill>
                <a:latin typeface="Touvlo"/>
                <a:ea typeface="Touvlo"/>
                <a:cs typeface="Touvlo"/>
                <a:sym typeface="Touvlo"/>
              </a:rPr>
              <a:t>or</a:t>
            </a:r>
            <a:r>
              <a:rPr lang="en-US" sz="2563" spc="17">
                <a:solidFill>
                  <a:srgbClr val="2E1F13"/>
                </a:solidFill>
                <a:latin typeface="Touvlo"/>
                <a:ea typeface="Touvlo"/>
                <a:cs typeface="Touvlo"/>
                <a:sym typeface="Touvlo"/>
              </a:rPr>
              <a:t>ong in</a:t>
            </a:r>
            <a:r>
              <a:rPr lang="en-US" sz="2563" spc="17">
                <a:solidFill>
                  <a:srgbClr val="2E1F13"/>
                </a:solidFill>
                <a:latin typeface="Touvlo"/>
                <a:ea typeface="Touvlo"/>
                <a:cs typeface="Touvlo"/>
                <a:sym typeface="Touvlo"/>
              </a:rPr>
              <a:t>o</a:t>
            </a:r>
            <a:r>
              <a:rPr lang="en-US" sz="2563" spc="17">
                <a:solidFill>
                  <a:srgbClr val="2E1F13"/>
                </a:solidFill>
                <a:latin typeface="Touvlo"/>
                <a:ea typeface="Touvlo"/>
                <a:cs typeface="Touvlo"/>
                <a:sym typeface="Touvlo"/>
              </a:rPr>
              <a:t>va</a:t>
            </a:r>
            <a:r>
              <a:rPr lang="en-US" sz="2563" spc="17">
                <a:solidFill>
                  <a:srgbClr val="2E1F13"/>
                </a:solidFill>
                <a:latin typeface="Touvlo"/>
                <a:ea typeface="Touvlo"/>
                <a:cs typeface="Touvlo"/>
                <a:sym typeface="Touvlo"/>
              </a:rPr>
              <a:t>s</a:t>
            </a:r>
            <a:r>
              <a:rPr lang="en-US" sz="2563" spc="17">
                <a:solidFill>
                  <a:srgbClr val="2E1F13"/>
                </a:solidFill>
                <a:latin typeface="Touvlo"/>
                <a:ea typeface="Touvlo"/>
                <a:cs typeface="Touvlo"/>
                <a:sym typeface="Touvlo"/>
              </a:rPr>
              <a:t>i</a:t>
            </a:r>
            <a:r>
              <a:rPr lang="en-US" sz="2563" spc="17">
                <a:solidFill>
                  <a:srgbClr val="2E1F13"/>
                </a:solidFill>
                <a:latin typeface="Touvlo"/>
                <a:ea typeface="Touvlo"/>
                <a:cs typeface="Touvlo"/>
                <a:sym typeface="Touvlo"/>
              </a:rPr>
              <a:t>.</a:t>
            </a:r>
          </a:p>
        </p:txBody>
      </p:sp>
      <p:sp>
        <p:nvSpPr>
          <p:cNvPr name="TextBox 11" id="11"/>
          <p:cNvSpPr txBox="true"/>
          <p:nvPr/>
        </p:nvSpPr>
        <p:spPr>
          <a:xfrm rot="0">
            <a:off x="2229985" y="6614695"/>
            <a:ext cx="13464629" cy="1612859"/>
          </a:xfrm>
          <a:prstGeom prst="rect">
            <a:avLst/>
          </a:prstGeom>
        </p:spPr>
        <p:txBody>
          <a:bodyPr anchor="t" rtlCol="false" tIns="0" lIns="0" bIns="0" rIns="0">
            <a:spAutoFit/>
          </a:bodyPr>
          <a:lstStyle/>
          <a:p>
            <a:pPr algn="just">
              <a:lnSpc>
                <a:spcPts val="2950"/>
              </a:lnSpc>
            </a:pPr>
            <a:r>
              <a:rPr lang="en-US" sz="2500" spc="17">
                <a:solidFill>
                  <a:srgbClr val="2E1F13"/>
                </a:solidFill>
                <a:latin typeface="Touvlo"/>
                <a:ea typeface="Touvlo"/>
                <a:cs typeface="Touvlo"/>
                <a:sym typeface="Touvlo"/>
              </a:rPr>
              <a:t>Saat i</a:t>
            </a:r>
            <a:r>
              <a:rPr lang="en-US" sz="2500" spc="17">
                <a:solidFill>
                  <a:srgbClr val="2E1F13"/>
                </a:solidFill>
                <a:latin typeface="Touvlo"/>
                <a:ea typeface="Touvlo"/>
                <a:cs typeface="Touvlo"/>
                <a:sym typeface="Touvlo"/>
              </a:rPr>
              <a:t>n</a:t>
            </a:r>
            <a:r>
              <a:rPr lang="en-US" sz="2500" spc="17">
                <a:solidFill>
                  <a:srgbClr val="2E1F13"/>
                </a:solidFill>
                <a:latin typeface="Touvlo"/>
                <a:ea typeface="Touvlo"/>
                <a:cs typeface="Touvlo"/>
                <a:sym typeface="Touvlo"/>
              </a:rPr>
              <a:t>i, </a:t>
            </a:r>
            <a:r>
              <a:rPr lang="en-US" sz="2500" spc="17">
                <a:solidFill>
                  <a:srgbClr val="2E1F13"/>
                </a:solidFill>
                <a:latin typeface="Touvlo"/>
                <a:ea typeface="Touvlo"/>
                <a:cs typeface="Touvlo"/>
                <a:sym typeface="Touvlo"/>
              </a:rPr>
              <a:t>s</a:t>
            </a:r>
            <a:r>
              <a:rPr lang="en-US" sz="2500" spc="17">
                <a:solidFill>
                  <a:srgbClr val="2E1F13"/>
                </a:solidFill>
                <a:latin typeface="Touvlo"/>
                <a:ea typeface="Touvlo"/>
                <a:cs typeface="Touvlo"/>
                <a:sym typeface="Touvlo"/>
              </a:rPr>
              <a:t>wa</a:t>
            </a:r>
            <a:r>
              <a:rPr lang="en-US" sz="2500" spc="17">
                <a:solidFill>
                  <a:srgbClr val="2E1F13"/>
                </a:solidFill>
                <a:latin typeface="Touvlo"/>
                <a:ea typeface="Touvlo"/>
                <a:cs typeface="Touvlo"/>
                <a:sym typeface="Touvlo"/>
              </a:rPr>
              <a:t>s</a:t>
            </a:r>
            <a:r>
              <a:rPr lang="en-US" sz="2500" spc="17">
                <a:solidFill>
                  <a:srgbClr val="2E1F13"/>
                </a:solidFill>
                <a:latin typeface="Touvlo"/>
                <a:ea typeface="Touvlo"/>
                <a:cs typeface="Touvlo"/>
                <a:sym typeface="Touvlo"/>
              </a:rPr>
              <a:t>ta m</a:t>
            </a:r>
            <a:r>
              <a:rPr lang="en-US" sz="2500" spc="17">
                <a:solidFill>
                  <a:srgbClr val="2E1F13"/>
                </a:solidFill>
                <a:latin typeface="Touvlo"/>
                <a:ea typeface="Touvlo"/>
                <a:cs typeface="Touvlo"/>
                <a:sym typeface="Touvlo"/>
              </a:rPr>
              <a:t>e</a:t>
            </a:r>
            <a:r>
              <a:rPr lang="en-US" sz="2500" spc="17">
                <a:solidFill>
                  <a:srgbClr val="2E1F13"/>
                </a:solidFill>
                <a:latin typeface="Touvlo"/>
                <a:ea typeface="Touvlo"/>
                <a:cs typeface="Touvlo"/>
                <a:sym typeface="Touvlo"/>
              </a:rPr>
              <a:t>njadi kekuatan utama dalam p</a:t>
            </a:r>
            <a:r>
              <a:rPr lang="en-US" sz="2500" spc="17">
                <a:solidFill>
                  <a:srgbClr val="2E1F13"/>
                </a:solidFill>
                <a:latin typeface="Touvlo"/>
                <a:ea typeface="Touvlo"/>
                <a:cs typeface="Touvlo"/>
                <a:sym typeface="Touvlo"/>
              </a:rPr>
              <a:t>er</a:t>
            </a:r>
            <a:r>
              <a:rPr lang="en-US" sz="2500" spc="17">
                <a:solidFill>
                  <a:srgbClr val="2E1F13"/>
                </a:solidFill>
                <a:latin typeface="Touvlo"/>
                <a:ea typeface="Touvlo"/>
                <a:cs typeface="Touvlo"/>
                <a:sym typeface="Touvlo"/>
              </a:rPr>
              <a:t>k</a:t>
            </a:r>
            <a:r>
              <a:rPr lang="en-US" sz="2500" spc="17">
                <a:solidFill>
                  <a:srgbClr val="2E1F13"/>
                </a:solidFill>
                <a:latin typeface="Touvlo"/>
                <a:ea typeface="Touvlo"/>
                <a:cs typeface="Touvlo"/>
                <a:sym typeface="Touvlo"/>
              </a:rPr>
              <a:t>e</a:t>
            </a:r>
            <a:r>
              <a:rPr lang="en-US" sz="2500" spc="17">
                <a:solidFill>
                  <a:srgbClr val="2E1F13"/>
                </a:solidFill>
                <a:latin typeface="Touvlo"/>
                <a:ea typeface="Touvlo"/>
                <a:cs typeface="Touvlo"/>
                <a:sym typeface="Touvlo"/>
              </a:rPr>
              <a:t>mbanga</a:t>
            </a:r>
            <a:r>
              <a:rPr lang="en-US" sz="2500" spc="17">
                <a:solidFill>
                  <a:srgbClr val="2E1F13"/>
                </a:solidFill>
                <a:latin typeface="Touvlo"/>
                <a:ea typeface="Touvlo"/>
                <a:cs typeface="Touvlo"/>
                <a:sym typeface="Touvlo"/>
              </a:rPr>
              <a:t>n </a:t>
            </a:r>
            <a:r>
              <a:rPr lang="en-US" sz="2500" spc="17">
                <a:solidFill>
                  <a:srgbClr val="2E1F13"/>
                </a:solidFill>
                <a:latin typeface="Touvlo"/>
                <a:ea typeface="Touvlo"/>
                <a:cs typeface="Touvlo"/>
                <a:sym typeface="Touvlo"/>
              </a:rPr>
              <a:t>tek</a:t>
            </a:r>
            <a:r>
              <a:rPr lang="en-US" sz="2500" spc="17">
                <a:solidFill>
                  <a:srgbClr val="2E1F13"/>
                </a:solidFill>
                <a:latin typeface="Touvlo"/>
                <a:ea typeface="Touvlo"/>
                <a:cs typeface="Touvlo"/>
                <a:sym typeface="Touvlo"/>
              </a:rPr>
              <a:t>no</a:t>
            </a:r>
            <a:r>
              <a:rPr lang="en-US" sz="2500" spc="17">
                <a:solidFill>
                  <a:srgbClr val="2E1F13"/>
                </a:solidFill>
                <a:latin typeface="Touvlo"/>
                <a:ea typeface="Touvlo"/>
                <a:cs typeface="Touvlo"/>
                <a:sym typeface="Touvlo"/>
              </a:rPr>
              <a:t>log</a:t>
            </a:r>
            <a:r>
              <a:rPr lang="en-US" sz="2500" spc="17">
                <a:solidFill>
                  <a:srgbClr val="2E1F13"/>
                </a:solidFill>
                <a:latin typeface="Touvlo"/>
                <a:ea typeface="Touvlo"/>
                <a:cs typeface="Touvlo"/>
                <a:sym typeface="Touvlo"/>
              </a:rPr>
              <a:t>i </a:t>
            </a:r>
            <a:r>
              <a:rPr lang="en-US" sz="2500" spc="17">
                <a:solidFill>
                  <a:srgbClr val="2E1F13"/>
                </a:solidFill>
                <a:latin typeface="Touvlo"/>
                <a:ea typeface="Touvlo"/>
                <a:cs typeface="Touvlo"/>
                <a:sym typeface="Touvlo"/>
              </a:rPr>
              <a:t>karena memimpin inovasi, menguasai pasar global, dan memiliki pengaruh ek</a:t>
            </a:r>
            <a:r>
              <a:rPr lang="en-US" sz="2500" spc="17">
                <a:solidFill>
                  <a:srgbClr val="2E1F13"/>
                </a:solidFill>
                <a:latin typeface="Touvlo"/>
                <a:ea typeface="Touvlo"/>
                <a:cs typeface="Touvlo"/>
                <a:sym typeface="Touvlo"/>
              </a:rPr>
              <a:t>onom</a:t>
            </a:r>
            <a:r>
              <a:rPr lang="en-US" sz="2500" spc="17">
                <a:solidFill>
                  <a:srgbClr val="2E1F13"/>
                </a:solidFill>
                <a:latin typeface="Touvlo"/>
                <a:ea typeface="Touvlo"/>
                <a:cs typeface="Touvlo"/>
                <a:sym typeface="Touvlo"/>
              </a:rPr>
              <a:t>i serta politik yang besar. Peran negara lebih sebagai pemulai dan pendana awal, sedangkan swasta mengembangkan da</a:t>
            </a:r>
            <a:r>
              <a:rPr lang="en-US" sz="2500" spc="17">
                <a:solidFill>
                  <a:srgbClr val="2E1F13"/>
                </a:solidFill>
                <a:latin typeface="Touvlo"/>
                <a:ea typeface="Touvlo"/>
                <a:cs typeface="Touvlo"/>
                <a:sym typeface="Touvlo"/>
              </a:rPr>
              <a:t>n</a:t>
            </a:r>
            <a:r>
              <a:rPr lang="en-US" sz="2500" spc="17">
                <a:solidFill>
                  <a:srgbClr val="2E1F13"/>
                </a:solidFill>
                <a:latin typeface="Touvlo"/>
                <a:ea typeface="Touvlo"/>
                <a:cs typeface="Touvlo"/>
                <a:sym typeface="Touvlo"/>
              </a:rPr>
              <a:t> m</a:t>
            </a:r>
            <a:r>
              <a:rPr lang="en-US" sz="2500" spc="17">
                <a:solidFill>
                  <a:srgbClr val="2E1F13"/>
                </a:solidFill>
                <a:latin typeface="Touvlo"/>
                <a:ea typeface="Touvlo"/>
                <a:cs typeface="Touvlo"/>
                <a:sym typeface="Touvlo"/>
              </a:rPr>
              <a:t>e</a:t>
            </a:r>
            <a:r>
              <a:rPr lang="en-US" sz="2500" spc="17">
                <a:solidFill>
                  <a:srgbClr val="2E1F13"/>
                </a:solidFill>
                <a:latin typeface="Touvlo"/>
                <a:ea typeface="Touvlo"/>
                <a:cs typeface="Touvlo"/>
                <a:sym typeface="Touvlo"/>
              </a:rPr>
              <a:t>nyebarkan teknologi </a:t>
            </a:r>
            <a:r>
              <a:rPr lang="en-US" sz="2500" spc="17">
                <a:solidFill>
                  <a:srgbClr val="2E1F13"/>
                </a:solidFill>
                <a:latin typeface="Touvlo"/>
                <a:ea typeface="Touvlo"/>
                <a:cs typeface="Touvlo"/>
                <a:sym typeface="Touvlo"/>
              </a:rPr>
              <a:t>sec</a:t>
            </a:r>
            <a:r>
              <a:rPr lang="en-US" sz="2500" spc="17">
                <a:solidFill>
                  <a:srgbClr val="2E1F13"/>
                </a:solidFill>
                <a:latin typeface="Touvlo"/>
                <a:ea typeface="Touvlo"/>
                <a:cs typeface="Touvlo"/>
                <a:sym typeface="Touvlo"/>
              </a:rPr>
              <a:t>ara luas.</a:t>
            </a:r>
          </a:p>
          <a:p>
            <a:pPr algn="just">
              <a:lnSpc>
                <a:spcPts val="944"/>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000500"/>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4230" y="-4688138"/>
            <a:ext cx="15430500" cy="6200255"/>
          </a:xfrm>
          <a:custGeom>
            <a:avLst/>
            <a:gdLst/>
            <a:ahLst/>
            <a:cxnLst/>
            <a:rect r="r" b="b" t="t" l="l"/>
            <a:pathLst>
              <a:path h="6200255" w="15430500">
                <a:moveTo>
                  <a:pt x="0" y="0"/>
                </a:moveTo>
                <a:lnTo>
                  <a:pt x="15430500" y="0"/>
                </a:lnTo>
                <a:lnTo>
                  <a:pt x="15430500" y="6200256"/>
                </a:lnTo>
                <a:lnTo>
                  <a:pt x="0" y="62002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417634" y="-2388268"/>
            <a:ext cx="6552129" cy="6063698"/>
          </a:xfrm>
          <a:custGeom>
            <a:avLst/>
            <a:gdLst/>
            <a:ahLst/>
            <a:cxnLst/>
            <a:rect r="r" b="b" t="t" l="l"/>
            <a:pathLst>
              <a:path h="6063698" w="6552129">
                <a:moveTo>
                  <a:pt x="0" y="0"/>
                </a:moveTo>
                <a:lnTo>
                  <a:pt x="6552129" y="0"/>
                </a:lnTo>
                <a:lnTo>
                  <a:pt x="6552129" y="6063697"/>
                </a:lnTo>
                <a:lnTo>
                  <a:pt x="0" y="60636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3837029" y="-2556711"/>
            <a:ext cx="6552129" cy="6063698"/>
          </a:xfrm>
          <a:custGeom>
            <a:avLst/>
            <a:gdLst/>
            <a:ahLst/>
            <a:cxnLst/>
            <a:rect r="r" b="b" t="t" l="l"/>
            <a:pathLst>
              <a:path h="6063698" w="6552129">
                <a:moveTo>
                  <a:pt x="6552129" y="0"/>
                </a:moveTo>
                <a:lnTo>
                  <a:pt x="0" y="0"/>
                </a:lnTo>
                <a:lnTo>
                  <a:pt x="0" y="6063698"/>
                </a:lnTo>
                <a:lnTo>
                  <a:pt x="6552129" y="6063698"/>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28750" y="8839368"/>
            <a:ext cx="15430500" cy="6200255"/>
          </a:xfrm>
          <a:custGeom>
            <a:avLst/>
            <a:gdLst/>
            <a:ahLst/>
            <a:cxnLst/>
            <a:rect r="r" b="b" t="t" l="l"/>
            <a:pathLst>
              <a:path h="6200255" w="15430500">
                <a:moveTo>
                  <a:pt x="0" y="0"/>
                </a:moveTo>
                <a:lnTo>
                  <a:pt x="15430500" y="0"/>
                </a:lnTo>
                <a:lnTo>
                  <a:pt x="15430500" y="6200255"/>
                </a:lnTo>
                <a:lnTo>
                  <a:pt x="0" y="62002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1731834" y="7255151"/>
            <a:ext cx="6552129" cy="6063698"/>
          </a:xfrm>
          <a:custGeom>
            <a:avLst/>
            <a:gdLst/>
            <a:ahLst/>
            <a:cxnLst/>
            <a:rect r="r" b="b" t="t" l="l"/>
            <a:pathLst>
              <a:path h="6063698" w="6552129">
                <a:moveTo>
                  <a:pt x="6552129" y="0"/>
                </a:moveTo>
                <a:lnTo>
                  <a:pt x="0" y="0"/>
                </a:lnTo>
                <a:lnTo>
                  <a:pt x="0" y="6063698"/>
                </a:lnTo>
                <a:lnTo>
                  <a:pt x="6552129" y="6063698"/>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500145" y="7255151"/>
            <a:ext cx="6552129" cy="6063698"/>
          </a:xfrm>
          <a:custGeom>
            <a:avLst/>
            <a:gdLst/>
            <a:ahLst/>
            <a:cxnLst/>
            <a:rect r="r" b="b" t="t" l="l"/>
            <a:pathLst>
              <a:path h="6063698" w="6552129">
                <a:moveTo>
                  <a:pt x="0" y="0"/>
                </a:moveTo>
                <a:lnTo>
                  <a:pt x="6552129" y="0"/>
                </a:lnTo>
                <a:lnTo>
                  <a:pt x="6552129" y="6063698"/>
                </a:lnTo>
                <a:lnTo>
                  <a:pt x="0" y="6063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2411686" y="2208145"/>
            <a:ext cx="13464629" cy="661381"/>
          </a:xfrm>
          <a:prstGeom prst="rect">
            <a:avLst/>
          </a:prstGeom>
        </p:spPr>
        <p:txBody>
          <a:bodyPr anchor="t" rtlCol="false" tIns="0" lIns="0" bIns="0" rIns="0">
            <a:spAutoFit/>
          </a:bodyPr>
          <a:lstStyle/>
          <a:p>
            <a:pPr algn="ctr">
              <a:lnSpc>
                <a:spcPts val="4823"/>
              </a:lnSpc>
            </a:pPr>
            <a:r>
              <a:rPr lang="en-US" b="true" sz="5359" spc="-107">
                <a:solidFill>
                  <a:srgbClr val="2E1F13"/>
                </a:solidFill>
                <a:latin typeface="Tex Gyre Termes Bold"/>
                <a:ea typeface="Tex Gyre Termes Bold"/>
                <a:cs typeface="Tex Gyre Termes Bold"/>
                <a:sym typeface="Tex Gyre Termes Bold"/>
              </a:rPr>
              <a:t>Sejarah hubungan antara Swasta dan Teknologi</a:t>
            </a:r>
          </a:p>
        </p:txBody>
      </p:sp>
      <p:sp>
        <p:nvSpPr>
          <p:cNvPr name="TextBox 10" id="10"/>
          <p:cNvSpPr txBox="true"/>
          <p:nvPr/>
        </p:nvSpPr>
        <p:spPr>
          <a:xfrm rot="0">
            <a:off x="2599188" y="3856404"/>
            <a:ext cx="13089625" cy="3622850"/>
          </a:xfrm>
          <a:prstGeom prst="rect">
            <a:avLst/>
          </a:prstGeom>
        </p:spPr>
        <p:txBody>
          <a:bodyPr anchor="t" rtlCol="false" tIns="0" lIns="0" bIns="0" rIns="0">
            <a:spAutoFit/>
          </a:bodyPr>
          <a:lstStyle/>
          <a:p>
            <a:pPr algn="just">
              <a:lnSpc>
                <a:spcPts val="3593"/>
              </a:lnSpc>
            </a:pPr>
            <a:r>
              <a:rPr lang="en-US" sz="3124" spc="21">
                <a:solidFill>
                  <a:srgbClr val="2E1F13"/>
                </a:solidFill>
                <a:latin typeface="Touvlo"/>
                <a:ea typeface="Touvlo"/>
                <a:cs typeface="Touvlo"/>
                <a:sym typeface="Touvlo"/>
              </a:rPr>
              <a:t>Menurut pemikiran dalam The Wealth of Nations, inovasi teknologi muncul secara alami dari pembagian kerja dan didorong oleh kepentingan individu. Pekerja, pembuat mesin, dan ilmuwan berkontribusi dalam menciptakan inovasi, sementara perusahaan swasta menyediakan modal dan mendorong efisiensi melalui persaingan pasar. Pada akhirnya, kepentingan pribadi (invisible hand) justru berkontribusi pada kemajuan </a:t>
            </a:r>
            <a:r>
              <a:rPr lang="en-US" sz="3124" spc="21">
                <a:solidFill>
                  <a:srgbClr val="2E1F13"/>
                </a:solidFill>
                <a:latin typeface="Touvlo"/>
                <a:ea typeface="Touvlo"/>
                <a:cs typeface="Touvlo"/>
                <a:sym typeface="Touvlo"/>
              </a:rPr>
              <a:t>ekonomi secara</a:t>
            </a:r>
            <a:r>
              <a:rPr lang="en-US" sz="3124" spc="21">
                <a:solidFill>
                  <a:srgbClr val="2E1F13"/>
                </a:solidFill>
                <a:latin typeface="Touvlo"/>
                <a:ea typeface="Touvlo"/>
                <a:cs typeface="Touvlo"/>
                <a:sym typeface="Touvlo"/>
              </a:rPr>
              <a:t> keseluruhan</a:t>
            </a:r>
            <a:r>
              <a:rPr lang="en-US" sz="3124" spc="21">
                <a:solidFill>
                  <a:srgbClr val="2E1F13"/>
                </a:solidFill>
                <a:latin typeface="Touvlo"/>
                <a:ea typeface="Touvlo"/>
                <a:cs typeface="Touvlo"/>
                <a:sym typeface="Touvlo"/>
              </a:rPr>
              <a: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000500"/>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4230" y="-4935788"/>
            <a:ext cx="15430500" cy="6200255"/>
          </a:xfrm>
          <a:custGeom>
            <a:avLst/>
            <a:gdLst/>
            <a:ahLst/>
            <a:cxnLst/>
            <a:rect r="r" b="b" t="t" l="l"/>
            <a:pathLst>
              <a:path h="6200255" w="15430500">
                <a:moveTo>
                  <a:pt x="0" y="0"/>
                </a:moveTo>
                <a:lnTo>
                  <a:pt x="15430500" y="0"/>
                </a:lnTo>
                <a:lnTo>
                  <a:pt x="15430500" y="6200256"/>
                </a:lnTo>
                <a:lnTo>
                  <a:pt x="0" y="62002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417634" y="-2823411"/>
            <a:ext cx="6552129" cy="6063698"/>
          </a:xfrm>
          <a:custGeom>
            <a:avLst/>
            <a:gdLst/>
            <a:ahLst/>
            <a:cxnLst/>
            <a:rect r="r" b="b" t="t" l="l"/>
            <a:pathLst>
              <a:path h="6063698" w="6552129">
                <a:moveTo>
                  <a:pt x="0" y="0"/>
                </a:moveTo>
                <a:lnTo>
                  <a:pt x="6552129" y="0"/>
                </a:lnTo>
                <a:lnTo>
                  <a:pt x="6552129" y="6063698"/>
                </a:lnTo>
                <a:lnTo>
                  <a:pt x="0" y="6063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3837029" y="-2871036"/>
            <a:ext cx="6552129" cy="6063698"/>
          </a:xfrm>
          <a:custGeom>
            <a:avLst/>
            <a:gdLst/>
            <a:ahLst/>
            <a:cxnLst/>
            <a:rect r="r" b="b" t="t" l="l"/>
            <a:pathLst>
              <a:path h="6063698" w="6552129">
                <a:moveTo>
                  <a:pt x="6552129" y="0"/>
                </a:moveTo>
                <a:lnTo>
                  <a:pt x="0" y="0"/>
                </a:lnTo>
                <a:lnTo>
                  <a:pt x="0" y="6063698"/>
                </a:lnTo>
                <a:lnTo>
                  <a:pt x="6552129" y="6063698"/>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28750" y="8839368"/>
            <a:ext cx="15430500" cy="6200255"/>
          </a:xfrm>
          <a:custGeom>
            <a:avLst/>
            <a:gdLst/>
            <a:ahLst/>
            <a:cxnLst/>
            <a:rect r="r" b="b" t="t" l="l"/>
            <a:pathLst>
              <a:path h="6200255" w="15430500">
                <a:moveTo>
                  <a:pt x="0" y="0"/>
                </a:moveTo>
                <a:lnTo>
                  <a:pt x="15430500" y="0"/>
                </a:lnTo>
                <a:lnTo>
                  <a:pt x="15430500" y="6200255"/>
                </a:lnTo>
                <a:lnTo>
                  <a:pt x="0" y="62002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1731834" y="7569476"/>
            <a:ext cx="6552129" cy="6063698"/>
          </a:xfrm>
          <a:custGeom>
            <a:avLst/>
            <a:gdLst/>
            <a:ahLst/>
            <a:cxnLst/>
            <a:rect r="r" b="b" t="t" l="l"/>
            <a:pathLst>
              <a:path h="6063698" w="6552129">
                <a:moveTo>
                  <a:pt x="6552129" y="0"/>
                </a:moveTo>
                <a:lnTo>
                  <a:pt x="0" y="0"/>
                </a:lnTo>
                <a:lnTo>
                  <a:pt x="0" y="6063698"/>
                </a:lnTo>
                <a:lnTo>
                  <a:pt x="6552129" y="6063698"/>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500145" y="7255151"/>
            <a:ext cx="6552129" cy="6063698"/>
          </a:xfrm>
          <a:custGeom>
            <a:avLst/>
            <a:gdLst/>
            <a:ahLst/>
            <a:cxnLst/>
            <a:rect r="r" b="b" t="t" l="l"/>
            <a:pathLst>
              <a:path h="6063698" w="6552129">
                <a:moveTo>
                  <a:pt x="0" y="0"/>
                </a:moveTo>
                <a:lnTo>
                  <a:pt x="6552129" y="0"/>
                </a:lnTo>
                <a:lnTo>
                  <a:pt x="6552129" y="6063698"/>
                </a:lnTo>
                <a:lnTo>
                  <a:pt x="0" y="6063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2370847" y="1000125"/>
            <a:ext cx="13397022" cy="2556510"/>
          </a:xfrm>
          <a:prstGeom prst="rect">
            <a:avLst/>
          </a:prstGeom>
        </p:spPr>
        <p:txBody>
          <a:bodyPr anchor="t" rtlCol="false" tIns="0" lIns="0" bIns="0" rIns="0">
            <a:spAutoFit/>
          </a:bodyPr>
          <a:lstStyle/>
          <a:p>
            <a:pPr algn="ctr">
              <a:lnSpc>
                <a:spcPts val="6720"/>
              </a:lnSpc>
            </a:pPr>
            <a:r>
              <a:rPr lang="en-US" b="true" sz="6000" spc="-120">
                <a:solidFill>
                  <a:srgbClr val="2E1F13"/>
                </a:solidFill>
                <a:latin typeface="Tex Gyre Termes Bold"/>
                <a:ea typeface="Tex Gyre Termes Bold"/>
                <a:cs typeface="Tex Gyre Termes Bold"/>
                <a:sym typeface="Tex Gyre Termes Bold"/>
              </a:rPr>
              <a:t>Implementasi dan Kontribusi Hacking Culture dalam Pengembangan Teknologi Modern</a:t>
            </a:r>
          </a:p>
        </p:txBody>
      </p:sp>
      <p:sp>
        <p:nvSpPr>
          <p:cNvPr name="TextBox 10" id="10"/>
          <p:cNvSpPr txBox="true"/>
          <p:nvPr/>
        </p:nvSpPr>
        <p:spPr>
          <a:xfrm rot="0">
            <a:off x="1163930" y="3709142"/>
            <a:ext cx="15695320" cy="5130226"/>
          </a:xfrm>
          <a:prstGeom prst="rect">
            <a:avLst/>
          </a:prstGeom>
        </p:spPr>
        <p:txBody>
          <a:bodyPr anchor="t" rtlCol="false" tIns="0" lIns="0" bIns="0" rIns="0">
            <a:spAutoFit/>
          </a:bodyPr>
          <a:lstStyle/>
          <a:p>
            <a:pPr algn="ctr">
              <a:lnSpc>
                <a:spcPts val="4072"/>
              </a:lnSpc>
            </a:pPr>
            <a:r>
              <a:rPr lang="en-US" sz="3181" spc="22">
                <a:solidFill>
                  <a:srgbClr val="2E1F13"/>
                </a:solidFill>
                <a:latin typeface="Touvlo"/>
                <a:ea typeface="Touvlo"/>
                <a:cs typeface="Touvlo"/>
                <a:sym typeface="Touvlo"/>
              </a:rPr>
              <a:t>Hacking culture merupakan awal munculnya industri komputer pribadi di Silicon Valley. Budaya ini diimplementasikan serta didorong oleh rasa ingin tahu dan keinginan untuk mendemokratisasi teknologi melalui komunitas. Implementasi hacking culture dalam praktik kerja menekankan eksplorasi dan eksperimen yang bebas. Contohnya di lingkungan APRA, para peneliti diberi kebebasan untuk mengembangkan ide ide baru tanpa adanya batasan birokrasi. Tindakan ini mencerminkan prinsip utama hacking culture, yaitu fokus pada solusi efektif daripada kepatuhan terhadap sistem yang kaku. Hacking culture diimplementasikan melalui eksperimen mandiri dan kolaborasi komunitas yang inklusif.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000500"/>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4230" y="-4935788"/>
            <a:ext cx="15430500" cy="6200255"/>
          </a:xfrm>
          <a:custGeom>
            <a:avLst/>
            <a:gdLst/>
            <a:ahLst/>
            <a:cxnLst/>
            <a:rect r="r" b="b" t="t" l="l"/>
            <a:pathLst>
              <a:path h="6200255" w="15430500">
                <a:moveTo>
                  <a:pt x="0" y="0"/>
                </a:moveTo>
                <a:lnTo>
                  <a:pt x="15430500" y="0"/>
                </a:lnTo>
                <a:lnTo>
                  <a:pt x="15430500" y="6200256"/>
                </a:lnTo>
                <a:lnTo>
                  <a:pt x="0" y="62002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417634" y="-2823411"/>
            <a:ext cx="6552129" cy="6063698"/>
          </a:xfrm>
          <a:custGeom>
            <a:avLst/>
            <a:gdLst/>
            <a:ahLst/>
            <a:cxnLst/>
            <a:rect r="r" b="b" t="t" l="l"/>
            <a:pathLst>
              <a:path h="6063698" w="6552129">
                <a:moveTo>
                  <a:pt x="0" y="0"/>
                </a:moveTo>
                <a:lnTo>
                  <a:pt x="6552129" y="0"/>
                </a:lnTo>
                <a:lnTo>
                  <a:pt x="6552129" y="6063698"/>
                </a:lnTo>
                <a:lnTo>
                  <a:pt x="0" y="6063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3837029" y="-2871036"/>
            <a:ext cx="6552129" cy="6063698"/>
          </a:xfrm>
          <a:custGeom>
            <a:avLst/>
            <a:gdLst/>
            <a:ahLst/>
            <a:cxnLst/>
            <a:rect r="r" b="b" t="t" l="l"/>
            <a:pathLst>
              <a:path h="6063698" w="6552129">
                <a:moveTo>
                  <a:pt x="6552129" y="0"/>
                </a:moveTo>
                <a:lnTo>
                  <a:pt x="0" y="0"/>
                </a:lnTo>
                <a:lnTo>
                  <a:pt x="0" y="6063698"/>
                </a:lnTo>
                <a:lnTo>
                  <a:pt x="6552129" y="6063698"/>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28750" y="8839368"/>
            <a:ext cx="15430500" cy="6200255"/>
          </a:xfrm>
          <a:custGeom>
            <a:avLst/>
            <a:gdLst/>
            <a:ahLst/>
            <a:cxnLst/>
            <a:rect r="r" b="b" t="t" l="l"/>
            <a:pathLst>
              <a:path h="6200255" w="15430500">
                <a:moveTo>
                  <a:pt x="0" y="0"/>
                </a:moveTo>
                <a:lnTo>
                  <a:pt x="15430500" y="0"/>
                </a:lnTo>
                <a:lnTo>
                  <a:pt x="15430500" y="6200255"/>
                </a:lnTo>
                <a:lnTo>
                  <a:pt x="0" y="62002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1731834" y="7569476"/>
            <a:ext cx="6552129" cy="6063698"/>
          </a:xfrm>
          <a:custGeom>
            <a:avLst/>
            <a:gdLst/>
            <a:ahLst/>
            <a:cxnLst/>
            <a:rect r="r" b="b" t="t" l="l"/>
            <a:pathLst>
              <a:path h="6063698" w="6552129">
                <a:moveTo>
                  <a:pt x="6552129" y="0"/>
                </a:moveTo>
                <a:lnTo>
                  <a:pt x="0" y="0"/>
                </a:lnTo>
                <a:lnTo>
                  <a:pt x="0" y="6063698"/>
                </a:lnTo>
                <a:lnTo>
                  <a:pt x="6552129" y="6063698"/>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500145" y="7255151"/>
            <a:ext cx="6552129" cy="6063698"/>
          </a:xfrm>
          <a:custGeom>
            <a:avLst/>
            <a:gdLst/>
            <a:ahLst/>
            <a:cxnLst/>
            <a:rect r="r" b="b" t="t" l="l"/>
            <a:pathLst>
              <a:path h="6063698" w="6552129">
                <a:moveTo>
                  <a:pt x="0" y="0"/>
                </a:moveTo>
                <a:lnTo>
                  <a:pt x="6552129" y="0"/>
                </a:lnTo>
                <a:lnTo>
                  <a:pt x="6552129" y="6063698"/>
                </a:lnTo>
                <a:lnTo>
                  <a:pt x="0" y="6063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2370847" y="1133475"/>
            <a:ext cx="13397022" cy="2346960"/>
          </a:xfrm>
          <a:prstGeom prst="rect">
            <a:avLst/>
          </a:prstGeom>
        </p:spPr>
        <p:txBody>
          <a:bodyPr anchor="t" rtlCol="false" tIns="0" lIns="0" bIns="0" rIns="0">
            <a:spAutoFit/>
          </a:bodyPr>
          <a:lstStyle/>
          <a:p>
            <a:pPr algn="ctr">
              <a:lnSpc>
                <a:spcPts val="6120"/>
              </a:lnSpc>
            </a:pPr>
            <a:r>
              <a:rPr lang="en-US" b="true" sz="6000" spc="-120">
                <a:solidFill>
                  <a:srgbClr val="2E1F13"/>
                </a:solidFill>
                <a:latin typeface="Tex Gyre Termes Bold"/>
                <a:ea typeface="Tex Gyre Termes Bold"/>
                <a:cs typeface="Tex Gyre Termes Bold"/>
                <a:sym typeface="Tex Gyre Termes Bold"/>
              </a:rPr>
              <a:t>Implementasi dan Kontribusi Hacking Culture dalam Pengembangan Teknologi Modern</a:t>
            </a:r>
          </a:p>
        </p:txBody>
      </p:sp>
      <p:sp>
        <p:nvSpPr>
          <p:cNvPr name="TextBox 10" id="10"/>
          <p:cNvSpPr txBox="true"/>
          <p:nvPr/>
        </p:nvSpPr>
        <p:spPr>
          <a:xfrm rot="0">
            <a:off x="1298644" y="3842439"/>
            <a:ext cx="15477565" cy="4615876"/>
          </a:xfrm>
          <a:prstGeom prst="rect">
            <a:avLst/>
          </a:prstGeom>
        </p:spPr>
        <p:txBody>
          <a:bodyPr anchor="t" rtlCol="false" tIns="0" lIns="0" bIns="0" rIns="0">
            <a:spAutoFit/>
          </a:bodyPr>
          <a:lstStyle/>
          <a:p>
            <a:pPr algn="ctr">
              <a:lnSpc>
                <a:spcPts val="4072"/>
              </a:lnSpc>
            </a:pPr>
            <a:r>
              <a:rPr lang="en-US" sz="3181" spc="22">
                <a:solidFill>
                  <a:srgbClr val="2E1F13"/>
                </a:solidFill>
                <a:latin typeface="Touvlo"/>
                <a:ea typeface="Touvlo"/>
                <a:cs typeface="Touvlo"/>
                <a:sym typeface="Touvlo"/>
              </a:rPr>
              <a:t>Kontribusi hacking culture terhadap teknologi modern yaitu lahirnya teknologi dasar seperti internet (melalui pengembangan APARNET), komputer  pribadi, jaringan internet, dan teknologi antarmuka pengguna. Konsep “superkomunitas” yang dikembangkan oleh Bob Taylor menunjukkan bagaimana teknologi dapat menghubungkan manusia tanpa batas geografis. Kontribusi lainnya yaitu sebuah kerangka berpikir baru yang menempatkan teknologi ditangan individu. Lingkungan yang mendukung kebebasan bereksperimen dan toleransi terhadap kegagalan memungkinkan para inovator untuk terus menciptakan teknologi baru.</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000500"/>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4230" y="-4935788"/>
            <a:ext cx="15430500" cy="6200255"/>
          </a:xfrm>
          <a:custGeom>
            <a:avLst/>
            <a:gdLst/>
            <a:ahLst/>
            <a:cxnLst/>
            <a:rect r="r" b="b" t="t" l="l"/>
            <a:pathLst>
              <a:path h="6200255" w="15430500">
                <a:moveTo>
                  <a:pt x="0" y="0"/>
                </a:moveTo>
                <a:lnTo>
                  <a:pt x="15430500" y="0"/>
                </a:lnTo>
                <a:lnTo>
                  <a:pt x="15430500" y="6200256"/>
                </a:lnTo>
                <a:lnTo>
                  <a:pt x="0" y="62002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417634" y="-2823411"/>
            <a:ext cx="6552129" cy="6063698"/>
          </a:xfrm>
          <a:custGeom>
            <a:avLst/>
            <a:gdLst/>
            <a:ahLst/>
            <a:cxnLst/>
            <a:rect r="r" b="b" t="t" l="l"/>
            <a:pathLst>
              <a:path h="6063698" w="6552129">
                <a:moveTo>
                  <a:pt x="0" y="0"/>
                </a:moveTo>
                <a:lnTo>
                  <a:pt x="6552129" y="0"/>
                </a:lnTo>
                <a:lnTo>
                  <a:pt x="6552129" y="6063698"/>
                </a:lnTo>
                <a:lnTo>
                  <a:pt x="0" y="6063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3837029" y="-2871036"/>
            <a:ext cx="6552129" cy="6063698"/>
          </a:xfrm>
          <a:custGeom>
            <a:avLst/>
            <a:gdLst/>
            <a:ahLst/>
            <a:cxnLst/>
            <a:rect r="r" b="b" t="t" l="l"/>
            <a:pathLst>
              <a:path h="6063698" w="6552129">
                <a:moveTo>
                  <a:pt x="6552129" y="0"/>
                </a:moveTo>
                <a:lnTo>
                  <a:pt x="0" y="0"/>
                </a:lnTo>
                <a:lnTo>
                  <a:pt x="0" y="6063698"/>
                </a:lnTo>
                <a:lnTo>
                  <a:pt x="6552129" y="6063698"/>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28750" y="8839368"/>
            <a:ext cx="15430500" cy="6200255"/>
          </a:xfrm>
          <a:custGeom>
            <a:avLst/>
            <a:gdLst/>
            <a:ahLst/>
            <a:cxnLst/>
            <a:rect r="r" b="b" t="t" l="l"/>
            <a:pathLst>
              <a:path h="6200255" w="15430500">
                <a:moveTo>
                  <a:pt x="0" y="0"/>
                </a:moveTo>
                <a:lnTo>
                  <a:pt x="15430500" y="0"/>
                </a:lnTo>
                <a:lnTo>
                  <a:pt x="15430500" y="6200255"/>
                </a:lnTo>
                <a:lnTo>
                  <a:pt x="0" y="62002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1731834" y="7569476"/>
            <a:ext cx="6552129" cy="6063698"/>
          </a:xfrm>
          <a:custGeom>
            <a:avLst/>
            <a:gdLst/>
            <a:ahLst/>
            <a:cxnLst/>
            <a:rect r="r" b="b" t="t" l="l"/>
            <a:pathLst>
              <a:path h="6063698" w="6552129">
                <a:moveTo>
                  <a:pt x="6552129" y="0"/>
                </a:moveTo>
                <a:lnTo>
                  <a:pt x="0" y="0"/>
                </a:lnTo>
                <a:lnTo>
                  <a:pt x="0" y="6063698"/>
                </a:lnTo>
                <a:lnTo>
                  <a:pt x="6552129" y="6063698"/>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500145" y="7255151"/>
            <a:ext cx="6552129" cy="6063698"/>
          </a:xfrm>
          <a:custGeom>
            <a:avLst/>
            <a:gdLst/>
            <a:ahLst/>
            <a:cxnLst/>
            <a:rect r="r" b="b" t="t" l="l"/>
            <a:pathLst>
              <a:path h="6063698" w="6552129">
                <a:moveTo>
                  <a:pt x="0" y="0"/>
                </a:moveTo>
                <a:lnTo>
                  <a:pt x="6552129" y="0"/>
                </a:lnTo>
                <a:lnTo>
                  <a:pt x="6552129" y="6063698"/>
                </a:lnTo>
                <a:lnTo>
                  <a:pt x="0" y="6063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2370847" y="1226927"/>
            <a:ext cx="13397022" cy="2428875"/>
          </a:xfrm>
          <a:prstGeom prst="rect">
            <a:avLst/>
          </a:prstGeom>
        </p:spPr>
        <p:txBody>
          <a:bodyPr anchor="t" rtlCol="false" tIns="0" lIns="0" bIns="0" rIns="0">
            <a:spAutoFit/>
          </a:bodyPr>
          <a:lstStyle/>
          <a:p>
            <a:pPr algn="ctr">
              <a:lnSpc>
                <a:spcPts val="6300"/>
              </a:lnSpc>
            </a:pPr>
            <a:r>
              <a:rPr lang="en-US" b="true" sz="6000" spc="-120">
                <a:solidFill>
                  <a:srgbClr val="2E1F13"/>
                </a:solidFill>
                <a:latin typeface="Tex Gyre Termes Bold"/>
                <a:ea typeface="Tex Gyre Termes Bold"/>
                <a:cs typeface="Tex Gyre Termes Bold"/>
                <a:sym typeface="Tex Gyre Termes Bold"/>
              </a:rPr>
              <a:t>Sejarah dan Pola Hubungan Antara Kode Sumber Terbuka dan Kode Sumber Tertutup</a:t>
            </a:r>
          </a:p>
        </p:txBody>
      </p:sp>
      <p:sp>
        <p:nvSpPr>
          <p:cNvPr name="TextBox 10" id="10"/>
          <p:cNvSpPr txBox="true"/>
          <p:nvPr/>
        </p:nvSpPr>
        <p:spPr>
          <a:xfrm rot="0">
            <a:off x="235919" y="3710095"/>
            <a:ext cx="5409129" cy="501076"/>
          </a:xfrm>
          <a:prstGeom prst="rect">
            <a:avLst/>
          </a:prstGeom>
        </p:spPr>
        <p:txBody>
          <a:bodyPr anchor="t" rtlCol="false" tIns="0" lIns="0" bIns="0" rIns="0">
            <a:spAutoFit/>
          </a:bodyPr>
          <a:lstStyle/>
          <a:p>
            <a:pPr algn="ctr">
              <a:lnSpc>
                <a:spcPts val="4072"/>
              </a:lnSpc>
            </a:pPr>
            <a:r>
              <a:rPr lang="en-US" b="true" sz="3181" spc="22">
                <a:solidFill>
                  <a:srgbClr val="2E1F13"/>
                </a:solidFill>
                <a:latin typeface="Touvlo Bold"/>
                <a:ea typeface="Touvlo Bold"/>
                <a:cs typeface="Touvlo Bold"/>
                <a:sym typeface="Touvlo Bold"/>
              </a:rPr>
              <a:t>A. Pada Awal 1970an</a:t>
            </a:r>
          </a:p>
        </p:txBody>
      </p:sp>
      <p:sp>
        <p:nvSpPr>
          <p:cNvPr name="TextBox 11" id="11"/>
          <p:cNvSpPr txBox="true"/>
          <p:nvPr/>
        </p:nvSpPr>
        <p:spPr>
          <a:xfrm rot="0">
            <a:off x="939643" y="4356789"/>
            <a:ext cx="16173450" cy="3587176"/>
          </a:xfrm>
          <a:prstGeom prst="rect">
            <a:avLst/>
          </a:prstGeom>
        </p:spPr>
        <p:txBody>
          <a:bodyPr anchor="t" rtlCol="false" tIns="0" lIns="0" bIns="0" rIns="0">
            <a:spAutoFit/>
          </a:bodyPr>
          <a:lstStyle/>
          <a:p>
            <a:pPr algn="l">
              <a:lnSpc>
                <a:spcPts val="4072"/>
              </a:lnSpc>
            </a:pPr>
            <a:r>
              <a:rPr lang="en-US" sz="3181" spc="22">
                <a:solidFill>
                  <a:srgbClr val="2E1F13"/>
                </a:solidFill>
                <a:latin typeface="Touvlo"/>
                <a:ea typeface="Touvlo"/>
                <a:cs typeface="Touvlo"/>
                <a:sym typeface="Touvlo"/>
              </a:rPr>
              <a:t>Pada awal tahun 1970an perkembangan industri, hubungan antara penyedia teknologi dan pelanggan sangatlah terbuka. Dimana perusahaan perangkat lunak memiliki kebijakan untuk mengirimkan produk mereka kepada pelanggan beserta dengan kode sumbernya (source code), guna membangun kepercayaan antara penyedia teknologi dengan pelanggan. Dengan adanya source code, penyedia teknologi bisa langsung terhubung ke komputer pelanggan dan memperbaiki masalah dengan cara menyusun ulang program tersebut.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000500"/>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4230" y="-4935788"/>
            <a:ext cx="15430500" cy="6200255"/>
          </a:xfrm>
          <a:custGeom>
            <a:avLst/>
            <a:gdLst/>
            <a:ahLst/>
            <a:cxnLst/>
            <a:rect r="r" b="b" t="t" l="l"/>
            <a:pathLst>
              <a:path h="6200255" w="15430500">
                <a:moveTo>
                  <a:pt x="0" y="0"/>
                </a:moveTo>
                <a:lnTo>
                  <a:pt x="15430500" y="0"/>
                </a:lnTo>
                <a:lnTo>
                  <a:pt x="15430500" y="6200256"/>
                </a:lnTo>
                <a:lnTo>
                  <a:pt x="0" y="62002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417634" y="-3727174"/>
            <a:ext cx="6552129" cy="6063698"/>
          </a:xfrm>
          <a:custGeom>
            <a:avLst/>
            <a:gdLst/>
            <a:ahLst/>
            <a:cxnLst/>
            <a:rect r="r" b="b" t="t" l="l"/>
            <a:pathLst>
              <a:path h="6063698" w="6552129">
                <a:moveTo>
                  <a:pt x="0" y="0"/>
                </a:moveTo>
                <a:lnTo>
                  <a:pt x="6552129" y="0"/>
                </a:lnTo>
                <a:lnTo>
                  <a:pt x="6552129" y="6063698"/>
                </a:lnTo>
                <a:lnTo>
                  <a:pt x="0" y="6063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3837029" y="-3680090"/>
            <a:ext cx="6552129" cy="6063698"/>
          </a:xfrm>
          <a:custGeom>
            <a:avLst/>
            <a:gdLst/>
            <a:ahLst/>
            <a:cxnLst/>
            <a:rect r="r" b="b" t="t" l="l"/>
            <a:pathLst>
              <a:path h="6063698" w="6552129">
                <a:moveTo>
                  <a:pt x="6552129" y="0"/>
                </a:moveTo>
                <a:lnTo>
                  <a:pt x="0" y="0"/>
                </a:lnTo>
                <a:lnTo>
                  <a:pt x="0" y="6063697"/>
                </a:lnTo>
                <a:lnTo>
                  <a:pt x="6552129" y="6063697"/>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28750" y="8839368"/>
            <a:ext cx="15430500" cy="6200255"/>
          </a:xfrm>
          <a:custGeom>
            <a:avLst/>
            <a:gdLst/>
            <a:ahLst/>
            <a:cxnLst/>
            <a:rect r="r" b="b" t="t" l="l"/>
            <a:pathLst>
              <a:path h="6200255" w="15430500">
                <a:moveTo>
                  <a:pt x="0" y="0"/>
                </a:moveTo>
                <a:lnTo>
                  <a:pt x="15430500" y="0"/>
                </a:lnTo>
                <a:lnTo>
                  <a:pt x="15430500" y="6200255"/>
                </a:lnTo>
                <a:lnTo>
                  <a:pt x="0" y="62002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1731834" y="7931426"/>
            <a:ext cx="6552129" cy="6063698"/>
          </a:xfrm>
          <a:custGeom>
            <a:avLst/>
            <a:gdLst/>
            <a:ahLst/>
            <a:cxnLst/>
            <a:rect r="r" b="b" t="t" l="l"/>
            <a:pathLst>
              <a:path h="6063698" w="6552129">
                <a:moveTo>
                  <a:pt x="6552129" y="0"/>
                </a:moveTo>
                <a:lnTo>
                  <a:pt x="0" y="0"/>
                </a:lnTo>
                <a:lnTo>
                  <a:pt x="0" y="6063698"/>
                </a:lnTo>
                <a:lnTo>
                  <a:pt x="6552129" y="6063698"/>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500145" y="7388501"/>
            <a:ext cx="6552129" cy="6063698"/>
          </a:xfrm>
          <a:custGeom>
            <a:avLst/>
            <a:gdLst/>
            <a:ahLst/>
            <a:cxnLst/>
            <a:rect r="r" b="b" t="t" l="l"/>
            <a:pathLst>
              <a:path h="6063698" w="6552129">
                <a:moveTo>
                  <a:pt x="0" y="0"/>
                </a:moveTo>
                <a:lnTo>
                  <a:pt x="6552129" y="0"/>
                </a:lnTo>
                <a:lnTo>
                  <a:pt x="6552129" y="6063698"/>
                </a:lnTo>
                <a:lnTo>
                  <a:pt x="0" y="6063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1915479" y="1711883"/>
            <a:ext cx="6735905" cy="501076"/>
          </a:xfrm>
          <a:prstGeom prst="rect">
            <a:avLst/>
          </a:prstGeom>
        </p:spPr>
        <p:txBody>
          <a:bodyPr anchor="t" rtlCol="false" tIns="0" lIns="0" bIns="0" rIns="0">
            <a:spAutoFit/>
          </a:bodyPr>
          <a:lstStyle/>
          <a:p>
            <a:pPr algn="ctr">
              <a:lnSpc>
                <a:spcPts val="4072"/>
              </a:lnSpc>
            </a:pPr>
            <a:r>
              <a:rPr lang="en-US" b="true" sz="3181" spc="22">
                <a:solidFill>
                  <a:srgbClr val="2E1F13"/>
                </a:solidFill>
                <a:latin typeface="Touvlo Bold"/>
                <a:ea typeface="Touvlo Bold"/>
                <a:cs typeface="Touvlo Bold"/>
                <a:sym typeface="Touvlo Bold"/>
              </a:rPr>
              <a:t>B. Pada Pertengahan 1970an</a:t>
            </a:r>
          </a:p>
        </p:txBody>
      </p:sp>
      <p:sp>
        <p:nvSpPr>
          <p:cNvPr name="TextBox 10" id="10"/>
          <p:cNvSpPr txBox="true"/>
          <p:nvPr/>
        </p:nvSpPr>
        <p:spPr>
          <a:xfrm rot="0">
            <a:off x="602759" y="2317474"/>
            <a:ext cx="16962344" cy="3072826"/>
          </a:xfrm>
          <a:prstGeom prst="rect">
            <a:avLst/>
          </a:prstGeom>
        </p:spPr>
        <p:txBody>
          <a:bodyPr anchor="t" rtlCol="false" tIns="0" lIns="0" bIns="0" rIns="0">
            <a:spAutoFit/>
          </a:bodyPr>
          <a:lstStyle/>
          <a:p>
            <a:pPr algn="l">
              <a:lnSpc>
                <a:spcPts val="4072"/>
              </a:lnSpc>
            </a:pPr>
            <a:r>
              <a:rPr lang="en-US" sz="3181" spc="22">
                <a:solidFill>
                  <a:srgbClr val="2E1F13"/>
                </a:solidFill>
                <a:latin typeface="Touvlo"/>
                <a:ea typeface="Touvlo"/>
                <a:cs typeface="Touvlo"/>
                <a:sym typeface="Touvlo"/>
              </a:rPr>
              <a:t>Pada pertengahan 1970an munculnya ketegangan komersial, terjadi ketika Bill Gates menulis "Surat Terbuka untuk Para Penggemar Komputer", Gates mengkritik bahwa budaya menyalin perangkat lunak tanpa membayar, ia anggap dapat menghambat penciptaan perangkat lunak yang berkualitas. Hal ini menandai awal pergeseran pola hubungan dari budaya hobi yang bebas menjadi model bisnis closed source yang dilindungi hak cipta demi keuntungan.</a:t>
            </a:r>
          </a:p>
        </p:txBody>
      </p:sp>
      <p:sp>
        <p:nvSpPr>
          <p:cNvPr name="TextBox 11" id="11"/>
          <p:cNvSpPr txBox="true"/>
          <p:nvPr/>
        </p:nvSpPr>
        <p:spPr>
          <a:xfrm rot="0">
            <a:off x="-413104" y="5556394"/>
            <a:ext cx="6735905" cy="501076"/>
          </a:xfrm>
          <a:prstGeom prst="rect">
            <a:avLst/>
          </a:prstGeom>
        </p:spPr>
        <p:txBody>
          <a:bodyPr anchor="t" rtlCol="false" tIns="0" lIns="0" bIns="0" rIns="0">
            <a:spAutoFit/>
          </a:bodyPr>
          <a:lstStyle/>
          <a:p>
            <a:pPr algn="ctr">
              <a:lnSpc>
                <a:spcPts val="4072"/>
              </a:lnSpc>
            </a:pPr>
            <a:r>
              <a:rPr lang="en-US" b="true" sz="3181" spc="22">
                <a:solidFill>
                  <a:srgbClr val="2E1F13"/>
                </a:solidFill>
                <a:latin typeface="Touvlo Bold"/>
                <a:ea typeface="Touvlo Bold"/>
                <a:cs typeface="Touvlo Bold"/>
                <a:sym typeface="Touvlo Bold"/>
              </a:rPr>
              <a:t>C. Pada Tahun 1980an</a:t>
            </a:r>
          </a:p>
        </p:txBody>
      </p:sp>
      <p:sp>
        <p:nvSpPr>
          <p:cNvPr name="TextBox 12" id="12"/>
          <p:cNvSpPr txBox="true"/>
          <p:nvPr/>
        </p:nvSpPr>
        <p:spPr>
          <a:xfrm rot="0">
            <a:off x="662828" y="6223563"/>
            <a:ext cx="16902275" cy="2044126"/>
          </a:xfrm>
          <a:prstGeom prst="rect">
            <a:avLst/>
          </a:prstGeom>
        </p:spPr>
        <p:txBody>
          <a:bodyPr anchor="t" rtlCol="false" tIns="0" lIns="0" bIns="0" rIns="0">
            <a:spAutoFit/>
          </a:bodyPr>
          <a:lstStyle/>
          <a:p>
            <a:pPr algn="l">
              <a:lnSpc>
                <a:spcPts val="4072"/>
              </a:lnSpc>
            </a:pPr>
            <a:r>
              <a:rPr lang="en-US" sz="3181" spc="22">
                <a:solidFill>
                  <a:srgbClr val="2E1F13"/>
                </a:solidFill>
                <a:latin typeface="Touvlo"/>
                <a:ea typeface="Touvlo"/>
                <a:cs typeface="Touvlo"/>
                <a:sym typeface="Touvlo"/>
              </a:rPr>
              <a:t>Pada tahun 1980an terjadi perubahan besar dari kode sistem terbuka (open source) ke kode sistem tertutup (closed source). Perubahan ini dilakukan untuk memberikan pengalaman pengguna yang lebih terkendali. Namun, akibatnya pengguna jadi tidak bisa lagi mengubah sistem dengan sendirinya.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000500"/>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4230" y="-4935788"/>
            <a:ext cx="15430500" cy="6200255"/>
          </a:xfrm>
          <a:custGeom>
            <a:avLst/>
            <a:gdLst/>
            <a:ahLst/>
            <a:cxnLst/>
            <a:rect r="r" b="b" t="t" l="l"/>
            <a:pathLst>
              <a:path h="6200255" w="15430500">
                <a:moveTo>
                  <a:pt x="0" y="0"/>
                </a:moveTo>
                <a:lnTo>
                  <a:pt x="15430500" y="0"/>
                </a:lnTo>
                <a:lnTo>
                  <a:pt x="15430500" y="6200256"/>
                </a:lnTo>
                <a:lnTo>
                  <a:pt x="0" y="62002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417634" y="-3727174"/>
            <a:ext cx="6552129" cy="6063698"/>
          </a:xfrm>
          <a:custGeom>
            <a:avLst/>
            <a:gdLst/>
            <a:ahLst/>
            <a:cxnLst/>
            <a:rect r="r" b="b" t="t" l="l"/>
            <a:pathLst>
              <a:path h="6063698" w="6552129">
                <a:moveTo>
                  <a:pt x="0" y="0"/>
                </a:moveTo>
                <a:lnTo>
                  <a:pt x="6552129" y="0"/>
                </a:lnTo>
                <a:lnTo>
                  <a:pt x="6552129" y="6063698"/>
                </a:lnTo>
                <a:lnTo>
                  <a:pt x="0" y="6063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3837029" y="-3680090"/>
            <a:ext cx="6552129" cy="6063698"/>
          </a:xfrm>
          <a:custGeom>
            <a:avLst/>
            <a:gdLst/>
            <a:ahLst/>
            <a:cxnLst/>
            <a:rect r="r" b="b" t="t" l="l"/>
            <a:pathLst>
              <a:path h="6063698" w="6552129">
                <a:moveTo>
                  <a:pt x="6552129" y="0"/>
                </a:moveTo>
                <a:lnTo>
                  <a:pt x="0" y="0"/>
                </a:lnTo>
                <a:lnTo>
                  <a:pt x="0" y="6063697"/>
                </a:lnTo>
                <a:lnTo>
                  <a:pt x="6552129" y="6063697"/>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28750" y="8839368"/>
            <a:ext cx="15430500" cy="6200255"/>
          </a:xfrm>
          <a:custGeom>
            <a:avLst/>
            <a:gdLst/>
            <a:ahLst/>
            <a:cxnLst/>
            <a:rect r="r" b="b" t="t" l="l"/>
            <a:pathLst>
              <a:path h="6200255" w="15430500">
                <a:moveTo>
                  <a:pt x="0" y="0"/>
                </a:moveTo>
                <a:lnTo>
                  <a:pt x="15430500" y="0"/>
                </a:lnTo>
                <a:lnTo>
                  <a:pt x="15430500" y="6200255"/>
                </a:lnTo>
                <a:lnTo>
                  <a:pt x="0" y="62002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1731834" y="7931426"/>
            <a:ext cx="6552129" cy="6063698"/>
          </a:xfrm>
          <a:custGeom>
            <a:avLst/>
            <a:gdLst/>
            <a:ahLst/>
            <a:cxnLst/>
            <a:rect r="r" b="b" t="t" l="l"/>
            <a:pathLst>
              <a:path h="6063698" w="6552129">
                <a:moveTo>
                  <a:pt x="6552129" y="0"/>
                </a:moveTo>
                <a:lnTo>
                  <a:pt x="0" y="0"/>
                </a:lnTo>
                <a:lnTo>
                  <a:pt x="0" y="6063698"/>
                </a:lnTo>
                <a:lnTo>
                  <a:pt x="6552129" y="6063698"/>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500145" y="7388501"/>
            <a:ext cx="6552129" cy="6063698"/>
          </a:xfrm>
          <a:custGeom>
            <a:avLst/>
            <a:gdLst/>
            <a:ahLst/>
            <a:cxnLst/>
            <a:rect r="r" b="b" t="t" l="l"/>
            <a:pathLst>
              <a:path h="6063698" w="6552129">
                <a:moveTo>
                  <a:pt x="0" y="0"/>
                </a:moveTo>
                <a:lnTo>
                  <a:pt x="6552129" y="0"/>
                </a:lnTo>
                <a:lnTo>
                  <a:pt x="6552129" y="6063698"/>
                </a:lnTo>
                <a:lnTo>
                  <a:pt x="0" y="6063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1104900" y="2030865"/>
            <a:ext cx="6735905" cy="501076"/>
          </a:xfrm>
          <a:prstGeom prst="rect">
            <a:avLst/>
          </a:prstGeom>
        </p:spPr>
        <p:txBody>
          <a:bodyPr anchor="t" rtlCol="false" tIns="0" lIns="0" bIns="0" rIns="0">
            <a:spAutoFit/>
          </a:bodyPr>
          <a:lstStyle/>
          <a:p>
            <a:pPr algn="ctr">
              <a:lnSpc>
                <a:spcPts val="4072"/>
              </a:lnSpc>
            </a:pPr>
            <a:r>
              <a:rPr lang="en-US" b="true" sz="3181" spc="22">
                <a:solidFill>
                  <a:srgbClr val="2E1F13"/>
                </a:solidFill>
                <a:latin typeface="Touvlo Bold"/>
                <a:ea typeface="Touvlo Bold"/>
                <a:cs typeface="Touvlo Bold"/>
                <a:sym typeface="Touvlo Bold"/>
              </a:rPr>
              <a:t>D. Pada Tahun 1990an</a:t>
            </a:r>
          </a:p>
        </p:txBody>
      </p:sp>
      <p:sp>
        <p:nvSpPr>
          <p:cNvPr name="TextBox 10" id="10"/>
          <p:cNvSpPr txBox="true"/>
          <p:nvPr/>
        </p:nvSpPr>
        <p:spPr>
          <a:xfrm rot="0">
            <a:off x="662828" y="2731966"/>
            <a:ext cx="16962344" cy="2044126"/>
          </a:xfrm>
          <a:prstGeom prst="rect">
            <a:avLst/>
          </a:prstGeom>
        </p:spPr>
        <p:txBody>
          <a:bodyPr anchor="t" rtlCol="false" tIns="0" lIns="0" bIns="0" rIns="0">
            <a:spAutoFit/>
          </a:bodyPr>
          <a:lstStyle/>
          <a:p>
            <a:pPr algn="l">
              <a:lnSpc>
                <a:spcPts val="4072"/>
              </a:lnSpc>
            </a:pPr>
            <a:r>
              <a:rPr lang="en-US" sz="3181" spc="22">
                <a:solidFill>
                  <a:srgbClr val="2E1F13"/>
                </a:solidFill>
                <a:latin typeface="Touvlo"/>
                <a:ea typeface="Touvlo"/>
                <a:cs typeface="Touvlo"/>
                <a:sym typeface="Touvlo"/>
              </a:rPr>
              <a:t>Pada tahun 1990an ini merupakan masa transisi dimana closed resource mulai kehilangan kendali karena kehadiran open source seperti linux, dimana dapat memungkinkan para wirausahawan membangun perusahaan dengan biaya rendah, karena tidak harus membeli lisensi perangkat lunak closed source yang mahal.</a:t>
            </a:r>
          </a:p>
        </p:txBody>
      </p:sp>
      <p:sp>
        <p:nvSpPr>
          <p:cNvPr name="TextBox 11" id="11"/>
          <p:cNvSpPr txBox="true"/>
          <p:nvPr/>
        </p:nvSpPr>
        <p:spPr>
          <a:xfrm rot="0">
            <a:off x="-305527" y="5124450"/>
            <a:ext cx="6735905" cy="501076"/>
          </a:xfrm>
          <a:prstGeom prst="rect">
            <a:avLst/>
          </a:prstGeom>
        </p:spPr>
        <p:txBody>
          <a:bodyPr anchor="t" rtlCol="false" tIns="0" lIns="0" bIns="0" rIns="0">
            <a:spAutoFit/>
          </a:bodyPr>
          <a:lstStyle/>
          <a:p>
            <a:pPr algn="ctr">
              <a:lnSpc>
                <a:spcPts val="4072"/>
              </a:lnSpc>
            </a:pPr>
            <a:r>
              <a:rPr lang="en-US" b="true" sz="3181" spc="22">
                <a:solidFill>
                  <a:srgbClr val="2E1F13"/>
                </a:solidFill>
                <a:latin typeface="Touvlo Bold"/>
                <a:ea typeface="Touvlo Bold"/>
                <a:cs typeface="Touvlo Bold"/>
                <a:sym typeface="Touvlo Bold"/>
              </a:rPr>
              <a:t>E. Pada Masa Sekarang</a:t>
            </a:r>
          </a:p>
        </p:txBody>
      </p:sp>
      <p:sp>
        <p:nvSpPr>
          <p:cNvPr name="TextBox 12" id="12"/>
          <p:cNvSpPr txBox="true"/>
          <p:nvPr/>
        </p:nvSpPr>
        <p:spPr>
          <a:xfrm rot="0">
            <a:off x="662828" y="5828919"/>
            <a:ext cx="16450265" cy="2044126"/>
          </a:xfrm>
          <a:prstGeom prst="rect">
            <a:avLst/>
          </a:prstGeom>
        </p:spPr>
        <p:txBody>
          <a:bodyPr anchor="t" rtlCol="false" tIns="0" lIns="0" bIns="0" rIns="0">
            <a:spAutoFit/>
          </a:bodyPr>
          <a:lstStyle/>
          <a:p>
            <a:pPr algn="l">
              <a:lnSpc>
                <a:spcPts val="4072"/>
              </a:lnSpc>
            </a:pPr>
            <a:r>
              <a:rPr lang="en-US" sz="3181" spc="22">
                <a:solidFill>
                  <a:srgbClr val="2E1F13"/>
                </a:solidFill>
                <a:latin typeface="Touvlo"/>
                <a:ea typeface="Touvlo"/>
                <a:cs typeface="Touvlo"/>
                <a:sym typeface="Touvlo"/>
              </a:rPr>
              <a:t>Pada masa sekarang, pengembangan teknologi menggunakan kombinasi atau gabungan antara open source dan closed source. Open source digunakan untuk mempercepat inovasi dan efisiensi, sementara closed source menjadi strategi utama dalam menciptakan nilai ekonomi dan keunggulan yang kompetitif.</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000500"/>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4230" y="-4688138"/>
            <a:ext cx="15430500" cy="6200255"/>
          </a:xfrm>
          <a:custGeom>
            <a:avLst/>
            <a:gdLst/>
            <a:ahLst/>
            <a:cxnLst/>
            <a:rect r="r" b="b" t="t" l="l"/>
            <a:pathLst>
              <a:path h="6200255" w="15430500">
                <a:moveTo>
                  <a:pt x="0" y="0"/>
                </a:moveTo>
                <a:lnTo>
                  <a:pt x="15430500" y="0"/>
                </a:lnTo>
                <a:lnTo>
                  <a:pt x="15430500" y="6200256"/>
                </a:lnTo>
                <a:lnTo>
                  <a:pt x="0" y="62002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417634" y="-2388268"/>
            <a:ext cx="6552129" cy="6063698"/>
          </a:xfrm>
          <a:custGeom>
            <a:avLst/>
            <a:gdLst/>
            <a:ahLst/>
            <a:cxnLst/>
            <a:rect r="r" b="b" t="t" l="l"/>
            <a:pathLst>
              <a:path h="6063698" w="6552129">
                <a:moveTo>
                  <a:pt x="0" y="0"/>
                </a:moveTo>
                <a:lnTo>
                  <a:pt x="6552129" y="0"/>
                </a:lnTo>
                <a:lnTo>
                  <a:pt x="6552129" y="6063697"/>
                </a:lnTo>
                <a:lnTo>
                  <a:pt x="0" y="60636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3837029" y="-2556711"/>
            <a:ext cx="6552129" cy="6063698"/>
          </a:xfrm>
          <a:custGeom>
            <a:avLst/>
            <a:gdLst/>
            <a:ahLst/>
            <a:cxnLst/>
            <a:rect r="r" b="b" t="t" l="l"/>
            <a:pathLst>
              <a:path h="6063698" w="6552129">
                <a:moveTo>
                  <a:pt x="6552129" y="0"/>
                </a:moveTo>
                <a:lnTo>
                  <a:pt x="0" y="0"/>
                </a:lnTo>
                <a:lnTo>
                  <a:pt x="0" y="6063698"/>
                </a:lnTo>
                <a:lnTo>
                  <a:pt x="6552129" y="6063698"/>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28750" y="8839368"/>
            <a:ext cx="15430500" cy="6200255"/>
          </a:xfrm>
          <a:custGeom>
            <a:avLst/>
            <a:gdLst/>
            <a:ahLst/>
            <a:cxnLst/>
            <a:rect r="r" b="b" t="t" l="l"/>
            <a:pathLst>
              <a:path h="6200255" w="15430500">
                <a:moveTo>
                  <a:pt x="0" y="0"/>
                </a:moveTo>
                <a:lnTo>
                  <a:pt x="15430500" y="0"/>
                </a:lnTo>
                <a:lnTo>
                  <a:pt x="15430500" y="6200255"/>
                </a:lnTo>
                <a:lnTo>
                  <a:pt x="0" y="62002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1731834" y="7255151"/>
            <a:ext cx="6552129" cy="6063698"/>
          </a:xfrm>
          <a:custGeom>
            <a:avLst/>
            <a:gdLst/>
            <a:ahLst/>
            <a:cxnLst/>
            <a:rect r="r" b="b" t="t" l="l"/>
            <a:pathLst>
              <a:path h="6063698" w="6552129">
                <a:moveTo>
                  <a:pt x="6552129" y="0"/>
                </a:moveTo>
                <a:lnTo>
                  <a:pt x="0" y="0"/>
                </a:lnTo>
                <a:lnTo>
                  <a:pt x="0" y="6063698"/>
                </a:lnTo>
                <a:lnTo>
                  <a:pt x="6552129" y="6063698"/>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500145" y="7255151"/>
            <a:ext cx="6552129" cy="6063698"/>
          </a:xfrm>
          <a:custGeom>
            <a:avLst/>
            <a:gdLst/>
            <a:ahLst/>
            <a:cxnLst/>
            <a:rect r="r" b="b" t="t" l="l"/>
            <a:pathLst>
              <a:path h="6063698" w="6552129">
                <a:moveTo>
                  <a:pt x="0" y="0"/>
                </a:moveTo>
                <a:lnTo>
                  <a:pt x="6552129" y="0"/>
                </a:lnTo>
                <a:lnTo>
                  <a:pt x="6552129" y="6063698"/>
                </a:lnTo>
                <a:lnTo>
                  <a:pt x="0" y="6063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2229985" y="1518784"/>
            <a:ext cx="13464629" cy="1270981"/>
          </a:xfrm>
          <a:prstGeom prst="rect">
            <a:avLst/>
          </a:prstGeom>
        </p:spPr>
        <p:txBody>
          <a:bodyPr anchor="t" rtlCol="false" tIns="0" lIns="0" bIns="0" rIns="0">
            <a:spAutoFit/>
          </a:bodyPr>
          <a:lstStyle/>
          <a:p>
            <a:pPr algn="ctr">
              <a:lnSpc>
                <a:spcPts val="4823"/>
              </a:lnSpc>
            </a:pPr>
            <a:r>
              <a:rPr lang="en-US" b="true" sz="5359" spc="-107">
                <a:solidFill>
                  <a:srgbClr val="2E1F13"/>
                </a:solidFill>
                <a:latin typeface="Tex Gyre Termes Bold"/>
                <a:ea typeface="Tex Gyre Termes Bold"/>
                <a:cs typeface="Tex Gyre Termes Bold"/>
                <a:sym typeface="Tex Gyre Termes Bold"/>
              </a:rPr>
              <a:t>Sikap Terhadap Open Sourc</a:t>
            </a:r>
          </a:p>
          <a:p>
            <a:pPr algn="ctr">
              <a:lnSpc>
                <a:spcPts val="4823"/>
              </a:lnSpc>
            </a:pPr>
            <a:r>
              <a:rPr lang="en-US" b="true" sz="5359" spc="-107">
                <a:solidFill>
                  <a:srgbClr val="2E1F13"/>
                </a:solidFill>
                <a:latin typeface="Tex Gyre Termes Bold"/>
                <a:ea typeface="Tex Gyre Termes Bold"/>
                <a:cs typeface="Tex Gyre Termes Bold"/>
                <a:sym typeface="Tex Gyre Termes Bold"/>
              </a:rPr>
              <a:t> dan Closed Source</a:t>
            </a:r>
          </a:p>
        </p:txBody>
      </p:sp>
      <p:sp>
        <p:nvSpPr>
          <p:cNvPr name="TextBox 10" id="10"/>
          <p:cNvSpPr txBox="true"/>
          <p:nvPr/>
        </p:nvSpPr>
        <p:spPr>
          <a:xfrm rot="0">
            <a:off x="2229985" y="3469855"/>
            <a:ext cx="13464629" cy="2462651"/>
          </a:xfrm>
          <a:prstGeom prst="rect">
            <a:avLst/>
          </a:prstGeom>
        </p:spPr>
        <p:txBody>
          <a:bodyPr anchor="t" rtlCol="false" tIns="0" lIns="0" bIns="0" rIns="0">
            <a:spAutoFit/>
          </a:bodyPr>
          <a:lstStyle/>
          <a:p>
            <a:pPr algn="just">
              <a:lnSpc>
                <a:spcPts val="2435"/>
              </a:lnSpc>
            </a:pPr>
            <a:r>
              <a:rPr lang="en-US" sz="2563" spc="17">
                <a:solidFill>
                  <a:srgbClr val="2E1F13"/>
                </a:solidFill>
                <a:latin typeface="Touvlo"/>
                <a:ea typeface="Touvlo"/>
                <a:cs typeface="Touvlo"/>
                <a:sym typeface="Touvlo"/>
              </a:rPr>
              <a:t>Jika dalam kapitalisme teknologi dikomodifikasi dan dimanfaatkan untuk keuntungan segelintir pihak, maka </a:t>
            </a:r>
            <a:r>
              <a:rPr lang="en-US" sz="2563" i="true" spc="17">
                <a:solidFill>
                  <a:srgbClr val="2E1F13"/>
                </a:solidFill>
                <a:latin typeface="Touvlo Italics"/>
                <a:ea typeface="Touvlo Italics"/>
                <a:cs typeface="Touvlo Italics"/>
                <a:sym typeface="Touvlo Italics"/>
              </a:rPr>
              <a:t>open</a:t>
            </a:r>
            <a:r>
              <a:rPr lang="en-US" sz="2563" spc="17">
                <a:solidFill>
                  <a:srgbClr val="2E1F13"/>
                </a:solidFill>
                <a:latin typeface="Touvlo"/>
                <a:ea typeface="Touvlo"/>
                <a:cs typeface="Touvlo"/>
                <a:sym typeface="Touvlo"/>
              </a:rPr>
              <a:t> </a:t>
            </a:r>
            <a:r>
              <a:rPr lang="en-US" sz="2563" i="true" spc="17">
                <a:solidFill>
                  <a:srgbClr val="2E1F13"/>
                </a:solidFill>
                <a:latin typeface="Touvlo Italics"/>
                <a:ea typeface="Touvlo Italics"/>
                <a:cs typeface="Touvlo Italics"/>
                <a:sym typeface="Touvlo Italics"/>
              </a:rPr>
              <a:t>source</a:t>
            </a:r>
            <a:r>
              <a:rPr lang="en-US" sz="2563" spc="17">
                <a:solidFill>
                  <a:srgbClr val="2E1F13"/>
                </a:solidFill>
                <a:latin typeface="Touvlo"/>
                <a:ea typeface="Touvlo"/>
                <a:cs typeface="Touvlo"/>
                <a:sym typeface="Touvlo"/>
              </a:rPr>
              <a:t> berusaha mengembalikan teknologi sebagai milik bersama yang dapat diakses dan dikembangkan secara kolektif. Sebaliknya, </a:t>
            </a:r>
            <a:r>
              <a:rPr lang="en-US" sz="2563" i="true" spc="17">
                <a:solidFill>
                  <a:srgbClr val="2E1F13"/>
                </a:solidFill>
                <a:latin typeface="Touvlo Italics"/>
                <a:ea typeface="Touvlo Italics"/>
                <a:cs typeface="Touvlo Italics"/>
                <a:sym typeface="Touvlo Italics"/>
              </a:rPr>
              <a:t>closed</a:t>
            </a:r>
            <a:r>
              <a:rPr lang="en-US" sz="2563" spc="17">
                <a:solidFill>
                  <a:srgbClr val="2E1F13"/>
                </a:solidFill>
                <a:latin typeface="Touvlo"/>
                <a:ea typeface="Touvlo"/>
                <a:cs typeface="Touvlo"/>
                <a:sym typeface="Touvlo"/>
              </a:rPr>
              <a:t> </a:t>
            </a:r>
            <a:r>
              <a:rPr lang="en-US" sz="2563" i="true" spc="17">
                <a:solidFill>
                  <a:srgbClr val="2E1F13"/>
                </a:solidFill>
                <a:latin typeface="Touvlo Italics"/>
                <a:ea typeface="Touvlo Italics"/>
                <a:cs typeface="Touvlo Italics"/>
                <a:sym typeface="Touvlo Italics"/>
              </a:rPr>
              <a:t>source</a:t>
            </a:r>
            <a:r>
              <a:rPr lang="en-US" sz="2563" spc="17">
                <a:solidFill>
                  <a:srgbClr val="2E1F13"/>
                </a:solidFill>
                <a:latin typeface="Touvlo"/>
                <a:ea typeface="Touvlo"/>
                <a:cs typeface="Touvlo"/>
                <a:sym typeface="Touvlo"/>
              </a:rPr>
              <a:t> mencerminkan penerapan nyata dari sistem kapitalisme dalam dunia teknologi, di mana kepemilikan pribadi, kontrol, dan keuntungan menjadi aspek utama. Dengan demikian, perkembangan teknologi modern tidak dapat dilepaskan dari tarik-menarik antara nilai-nilai kolektivisme dan kapitalisme, yang masing-masing direpresentasikan oleh </a:t>
            </a:r>
            <a:r>
              <a:rPr lang="en-US" sz="2563" i="true" spc="17">
                <a:solidFill>
                  <a:srgbClr val="2E1F13"/>
                </a:solidFill>
                <a:latin typeface="Touvlo Italics"/>
                <a:ea typeface="Touvlo Italics"/>
                <a:cs typeface="Touvlo Italics"/>
                <a:sym typeface="Touvlo Italics"/>
              </a:rPr>
              <a:t>open</a:t>
            </a:r>
            <a:r>
              <a:rPr lang="en-US" sz="2563" spc="17">
                <a:solidFill>
                  <a:srgbClr val="2E1F13"/>
                </a:solidFill>
                <a:latin typeface="Touvlo"/>
                <a:ea typeface="Touvlo"/>
                <a:cs typeface="Touvlo"/>
                <a:sym typeface="Touvlo"/>
              </a:rPr>
              <a:t> </a:t>
            </a:r>
            <a:r>
              <a:rPr lang="en-US" sz="2563" i="true" spc="17">
                <a:solidFill>
                  <a:srgbClr val="2E1F13"/>
                </a:solidFill>
                <a:latin typeface="Touvlo Italics"/>
                <a:ea typeface="Touvlo Italics"/>
                <a:cs typeface="Touvlo Italics"/>
                <a:sym typeface="Touvlo Italics"/>
              </a:rPr>
              <a:t>source</a:t>
            </a:r>
            <a:r>
              <a:rPr lang="en-US" sz="2563" spc="17">
                <a:solidFill>
                  <a:srgbClr val="2E1F13"/>
                </a:solidFill>
                <a:latin typeface="Touvlo"/>
                <a:ea typeface="Touvlo"/>
                <a:cs typeface="Touvlo"/>
                <a:sym typeface="Touvlo"/>
              </a:rPr>
              <a:t> dan </a:t>
            </a:r>
            <a:r>
              <a:rPr lang="en-US" sz="2563" i="true" spc="17">
                <a:solidFill>
                  <a:srgbClr val="2E1F13"/>
                </a:solidFill>
                <a:latin typeface="Touvlo Italics"/>
                <a:ea typeface="Touvlo Italics"/>
                <a:cs typeface="Touvlo Italics"/>
                <a:sym typeface="Touvlo Italics"/>
              </a:rPr>
              <a:t>closed source.</a:t>
            </a:r>
          </a:p>
        </p:txBody>
      </p:sp>
      <p:sp>
        <p:nvSpPr>
          <p:cNvPr name="TextBox 11" id="11"/>
          <p:cNvSpPr txBox="true"/>
          <p:nvPr/>
        </p:nvSpPr>
        <p:spPr>
          <a:xfrm rot="0">
            <a:off x="2229985" y="6264873"/>
            <a:ext cx="13464629" cy="2162706"/>
          </a:xfrm>
          <a:prstGeom prst="rect">
            <a:avLst/>
          </a:prstGeom>
        </p:spPr>
        <p:txBody>
          <a:bodyPr anchor="t" rtlCol="false" tIns="0" lIns="0" bIns="0" rIns="0">
            <a:spAutoFit/>
          </a:bodyPr>
          <a:lstStyle/>
          <a:p>
            <a:pPr algn="just">
              <a:lnSpc>
                <a:spcPts val="2375"/>
              </a:lnSpc>
            </a:pPr>
            <a:r>
              <a:rPr lang="en-US" sz="2500" spc="17">
                <a:solidFill>
                  <a:srgbClr val="2E1F13"/>
                </a:solidFill>
                <a:latin typeface="Touvlo"/>
                <a:ea typeface="Touvlo"/>
                <a:cs typeface="Touvlo"/>
                <a:sym typeface="Touvlo"/>
              </a:rPr>
              <a:t>Sikap terhadap </a:t>
            </a:r>
            <a:r>
              <a:rPr lang="en-US" sz="2500" i="true" spc="17">
                <a:solidFill>
                  <a:srgbClr val="2E1F13"/>
                </a:solidFill>
                <a:latin typeface="Touvlo Italics"/>
                <a:ea typeface="Touvlo Italics"/>
                <a:cs typeface="Touvlo Italics"/>
                <a:sym typeface="Touvlo Italics"/>
              </a:rPr>
              <a:t>open</a:t>
            </a:r>
            <a:r>
              <a:rPr lang="en-US" sz="2500" spc="17">
                <a:solidFill>
                  <a:srgbClr val="2E1F13"/>
                </a:solidFill>
                <a:latin typeface="Touvlo"/>
                <a:ea typeface="Touvlo"/>
                <a:cs typeface="Touvlo"/>
                <a:sym typeface="Touvlo"/>
              </a:rPr>
              <a:t> </a:t>
            </a:r>
            <a:r>
              <a:rPr lang="en-US" sz="2500" i="true" spc="17">
                <a:solidFill>
                  <a:srgbClr val="2E1F13"/>
                </a:solidFill>
                <a:latin typeface="Touvlo Italics"/>
                <a:ea typeface="Touvlo Italics"/>
                <a:cs typeface="Touvlo Italics"/>
                <a:sym typeface="Touvlo Italics"/>
              </a:rPr>
              <a:t>source</a:t>
            </a:r>
            <a:r>
              <a:rPr lang="en-US" sz="2500" spc="17">
                <a:solidFill>
                  <a:srgbClr val="2E1F13"/>
                </a:solidFill>
                <a:latin typeface="Touvlo"/>
                <a:ea typeface="Touvlo"/>
                <a:cs typeface="Touvlo"/>
                <a:sym typeface="Touvlo"/>
              </a:rPr>
              <a:t> dan </a:t>
            </a:r>
            <a:r>
              <a:rPr lang="en-US" sz="2500" i="true" spc="17">
                <a:solidFill>
                  <a:srgbClr val="2E1F13"/>
                </a:solidFill>
                <a:latin typeface="Touvlo Italics"/>
                <a:ea typeface="Touvlo Italics"/>
                <a:cs typeface="Touvlo Italics"/>
                <a:sym typeface="Touvlo Italics"/>
              </a:rPr>
              <a:t>closed</a:t>
            </a:r>
            <a:r>
              <a:rPr lang="en-US" sz="2500" spc="17">
                <a:solidFill>
                  <a:srgbClr val="2E1F13"/>
                </a:solidFill>
                <a:latin typeface="Touvlo"/>
                <a:ea typeface="Touvlo"/>
                <a:cs typeface="Touvlo"/>
                <a:sym typeface="Touvlo"/>
              </a:rPr>
              <a:t> </a:t>
            </a:r>
            <a:r>
              <a:rPr lang="en-US" sz="2500" i="true" spc="17">
                <a:solidFill>
                  <a:srgbClr val="2E1F13"/>
                </a:solidFill>
                <a:latin typeface="Touvlo Italics"/>
                <a:ea typeface="Touvlo Italics"/>
                <a:cs typeface="Touvlo Italics"/>
                <a:sym typeface="Touvlo Italics"/>
              </a:rPr>
              <a:t>source</a:t>
            </a:r>
            <a:r>
              <a:rPr lang="en-US" sz="2500" spc="17">
                <a:solidFill>
                  <a:srgbClr val="2E1F13"/>
                </a:solidFill>
                <a:latin typeface="Touvlo"/>
                <a:ea typeface="Touvlo"/>
                <a:cs typeface="Touvlo"/>
                <a:sym typeface="Touvlo"/>
              </a:rPr>
              <a:t>  dijelaskan melalui </a:t>
            </a:r>
            <a:r>
              <a:rPr lang="en-US" sz="2500" i="true" spc="17">
                <a:solidFill>
                  <a:srgbClr val="2E1F13"/>
                </a:solidFill>
                <a:latin typeface="Touvlo Italics"/>
                <a:ea typeface="Touvlo Italics"/>
                <a:cs typeface="Touvlo Italics"/>
                <a:sym typeface="Touvlo Italics"/>
              </a:rPr>
              <a:t>The Big Three in Economics </a:t>
            </a:r>
            <a:r>
              <a:rPr lang="en-US" sz="2500" spc="17">
                <a:solidFill>
                  <a:srgbClr val="2E1F13"/>
                </a:solidFill>
                <a:latin typeface="Touvlo"/>
                <a:ea typeface="Touvlo"/>
                <a:cs typeface="Touvlo"/>
                <a:sym typeface="Touvlo"/>
              </a:rPr>
              <a:t>karya Mark Skousen, pada bagian yang membahas pemikiran John Maynard Keynes tentang </a:t>
            </a:r>
            <a:r>
              <a:rPr lang="en-US" sz="2500" i="true" spc="17">
                <a:solidFill>
                  <a:srgbClr val="2E1F13"/>
                </a:solidFill>
                <a:latin typeface="Touvlo Italics"/>
                <a:ea typeface="Touvlo Italics"/>
                <a:cs typeface="Touvlo Italics"/>
                <a:sym typeface="Touvlo Italics"/>
              </a:rPr>
              <a:t>mixed</a:t>
            </a:r>
            <a:r>
              <a:rPr lang="en-US" sz="2500" spc="17">
                <a:solidFill>
                  <a:srgbClr val="2E1F13"/>
                </a:solidFill>
                <a:latin typeface="Touvlo"/>
                <a:ea typeface="Touvlo"/>
                <a:cs typeface="Touvlo"/>
                <a:sym typeface="Touvlo"/>
              </a:rPr>
              <a:t> </a:t>
            </a:r>
            <a:r>
              <a:rPr lang="en-US" sz="2500" i="true" spc="17">
                <a:solidFill>
                  <a:srgbClr val="2E1F13"/>
                </a:solidFill>
                <a:latin typeface="Touvlo Italics"/>
                <a:ea typeface="Touvlo Italics"/>
                <a:cs typeface="Touvlo Italics"/>
                <a:sym typeface="Touvlo Italics"/>
              </a:rPr>
              <a:t>economy</a:t>
            </a:r>
            <a:r>
              <a:rPr lang="en-US" sz="2500" spc="17">
                <a:solidFill>
                  <a:srgbClr val="2E1F13"/>
                </a:solidFill>
                <a:latin typeface="Touvlo"/>
                <a:ea typeface="Touvlo"/>
                <a:cs typeface="Touvlo"/>
                <a:sym typeface="Touvlo"/>
              </a:rPr>
              <a:t>, dijelaskan bahwa tidak ada sistem ekonomi yang sepenuhnya sempurna, sehingga diperlukan keseimbangan antara pasar dan intervensi. Oleh karena itu, pendekatan yang paling relevan adalah mengombinasikan </a:t>
            </a:r>
            <a:r>
              <a:rPr lang="en-US" sz="2500" i="true" spc="17">
                <a:solidFill>
                  <a:srgbClr val="2E1F13"/>
                </a:solidFill>
                <a:latin typeface="Touvlo Italics"/>
                <a:ea typeface="Touvlo Italics"/>
                <a:cs typeface="Touvlo Italics"/>
                <a:sym typeface="Touvlo Italics"/>
              </a:rPr>
              <a:t>open</a:t>
            </a:r>
            <a:r>
              <a:rPr lang="en-US" sz="2500" spc="17">
                <a:solidFill>
                  <a:srgbClr val="2E1F13"/>
                </a:solidFill>
                <a:latin typeface="Touvlo"/>
                <a:ea typeface="Touvlo"/>
                <a:cs typeface="Touvlo"/>
                <a:sym typeface="Touvlo"/>
              </a:rPr>
              <a:t> </a:t>
            </a:r>
            <a:r>
              <a:rPr lang="en-US" sz="2500" i="true" spc="17">
                <a:solidFill>
                  <a:srgbClr val="2E1F13"/>
                </a:solidFill>
                <a:latin typeface="Touvlo Italics"/>
                <a:ea typeface="Touvlo Italics"/>
                <a:cs typeface="Touvlo Italics"/>
                <a:sym typeface="Touvlo Italics"/>
              </a:rPr>
              <a:t>source</a:t>
            </a:r>
            <a:r>
              <a:rPr lang="en-US" sz="2500" spc="17">
                <a:solidFill>
                  <a:srgbClr val="2E1F13"/>
                </a:solidFill>
                <a:latin typeface="Touvlo"/>
                <a:ea typeface="Touvlo"/>
                <a:cs typeface="Touvlo"/>
                <a:sym typeface="Touvlo"/>
              </a:rPr>
              <a:t> sebagai sarana inovasi dan kolaborasi dengan </a:t>
            </a:r>
            <a:r>
              <a:rPr lang="en-US" sz="2500" i="true" spc="17">
                <a:solidFill>
                  <a:srgbClr val="2E1F13"/>
                </a:solidFill>
                <a:latin typeface="Touvlo Italics"/>
                <a:ea typeface="Touvlo Italics"/>
                <a:cs typeface="Touvlo Italics"/>
                <a:sym typeface="Touvlo Italics"/>
              </a:rPr>
              <a:t>closed</a:t>
            </a:r>
            <a:r>
              <a:rPr lang="en-US" sz="2500" spc="17">
                <a:solidFill>
                  <a:srgbClr val="2E1F13"/>
                </a:solidFill>
                <a:latin typeface="Touvlo"/>
                <a:ea typeface="Touvlo"/>
                <a:cs typeface="Touvlo"/>
                <a:sym typeface="Touvlo"/>
              </a:rPr>
              <a:t> </a:t>
            </a:r>
            <a:r>
              <a:rPr lang="en-US" sz="2500" i="true" spc="17">
                <a:solidFill>
                  <a:srgbClr val="2E1F13"/>
                </a:solidFill>
                <a:latin typeface="Touvlo Italics"/>
                <a:ea typeface="Touvlo Italics"/>
                <a:cs typeface="Touvlo Italics"/>
                <a:sym typeface="Touvlo Italics"/>
              </a:rPr>
              <a:t>source</a:t>
            </a:r>
            <a:r>
              <a:rPr lang="en-US" sz="2500" spc="17">
                <a:solidFill>
                  <a:srgbClr val="2E1F13"/>
                </a:solidFill>
                <a:latin typeface="Touvlo"/>
                <a:ea typeface="Touvlo"/>
                <a:cs typeface="Touvlo"/>
                <a:sym typeface="Touvlo"/>
              </a:rPr>
              <a:t> sebagai mekanisme keberlanjutan ekonomi.</a:t>
            </a:r>
          </a:p>
          <a:p>
            <a:pPr algn="just">
              <a:lnSpc>
                <a:spcPts val="760"/>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000500"/>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4230" y="-4688138"/>
            <a:ext cx="15430500" cy="6200255"/>
          </a:xfrm>
          <a:custGeom>
            <a:avLst/>
            <a:gdLst/>
            <a:ahLst/>
            <a:cxnLst/>
            <a:rect r="r" b="b" t="t" l="l"/>
            <a:pathLst>
              <a:path h="6200255" w="15430500">
                <a:moveTo>
                  <a:pt x="0" y="0"/>
                </a:moveTo>
                <a:lnTo>
                  <a:pt x="15430500" y="0"/>
                </a:lnTo>
                <a:lnTo>
                  <a:pt x="15430500" y="6200256"/>
                </a:lnTo>
                <a:lnTo>
                  <a:pt x="0" y="62002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417634" y="-2388268"/>
            <a:ext cx="6552129" cy="6063698"/>
          </a:xfrm>
          <a:custGeom>
            <a:avLst/>
            <a:gdLst/>
            <a:ahLst/>
            <a:cxnLst/>
            <a:rect r="r" b="b" t="t" l="l"/>
            <a:pathLst>
              <a:path h="6063698" w="6552129">
                <a:moveTo>
                  <a:pt x="0" y="0"/>
                </a:moveTo>
                <a:lnTo>
                  <a:pt x="6552129" y="0"/>
                </a:lnTo>
                <a:lnTo>
                  <a:pt x="6552129" y="6063697"/>
                </a:lnTo>
                <a:lnTo>
                  <a:pt x="0" y="60636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3837029" y="-2556711"/>
            <a:ext cx="6552129" cy="6063698"/>
          </a:xfrm>
          <a:custGeom>
            <a:avLst/>
            <a:gdLst/>
            <a:ahLst/>
            <a:cxnLst/>
            <a:rect r="r" b="b" t="t" l="l"/>
            <a:pathLst>
              <a:path h="6063698" w="6552129">
                <a:moveTo>
                  <a:pt x="6552129" y="0"/>
                </a:moveTo>
                <a:lnTo>
                  <a:pt x="0" y="0"/>
                </a:lnTo>
                <a:lnTo>
                  <a:pt x="0" y="6063698"/>
                </a:lnTo>
                <a:lnTo>
                  <a:pt x="6552129" y="6063698"/>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28750" y="8839368"/>
            <a:ext cx="15430500" cy="6200255"/>
          </a:xfrm>
          <a:custGeom>
            <a:avLst/>
            <a:gdLst/>
            <a:ahLst/>
            <a:cxnLst/>
            <a:rect r="r" b="b" t="t" l="l"/>
            <a:pathLst>
              <a:path h="6200255" w="15430500">
                <a:moveTo>
                  <a:pt x="0" y="0"/>
                </a:moveTo>
                <a:lnTo>
                  <a:pt x="15430500" y="0"/>
                </a:lnTo>
                <a:lnTo>
                  <a:pt x="15430500" y="6200255"/>
                </a:lnTo>
                <a:lnTo>
                  <a:pt x="0" y="62002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1731834" y="7255151"/>
            <a:ext cx="6552129" cy="6063698"/>
          </a:xfrm>
          <a:custGeom>
            <a:avLst/>
            <a:gdLst/>
            <a:ahLst/>
            <a:cxnLst/>
            <a:rect r="r" b="b" t="t" l="l"/>
            <a:pathLst>
              <a:path h="6063698" w="6552129">
                <a:moveTo>
                  <a:pt x="6552129" y="0"/>
                </a:moveTo>
                <a:lnTo>
                  <a:pt x="0" y="0"/>
                </a:lnTo>
                <a:lnTo>
                  <a:pt x="0" y="6063698"/>
                </a:lnTo>
                <a:lnTo>
                  <a:pt x="6552129" y="6063698"/>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500145" y="7255151"/>
            <a:ext cx="6552129" cy="6063698"/>
          </a:xfrm>
          <a:custGeom>
            <a:avLst/>
            <a:gdLst/>
            <a:ahLst/>
            <a:cxnLst/>
            <a:rect r="r" b="b" t="t" l="l"/>
            <a:pathLst>
              <a:path h="6063698" w="6552129">
                <a:moveTo>
                  <a:pt x="0" y="0"/>
                </a:moveTo>
                <a:lnTo>
                  <a:pt x="6552129" y="0"/>
                </a:lnTo>
                <a:lnTo>
                  <a:pt x="6552129" y="6063698"/>
                </a:lnTo>
                <a:lnTo>
                  <a:pt x="0" y="6063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2229985" y="1509259"/>
            <a:ext cx="13464629" cy="1290031"/>
          </a:xfrm>
          <a:prstGeom prst="rect">
            <a:avLst/>
          </a:prstGeom>
        </p:spPr>
        <p:txBody>
          <a:bodyPr anchor="t" rtlCol="false" tIns="0" lIns="0" bIns="0" rIns="0">
            <a:spAutoFit/>
          </a:bodyPr>
          <a:lstStyle/>
          <a:p>
            <a:pPr algn="ctr">
              <a:lnSpc>
                <a:spcPts val="4823"/>
              </a:lnSpc>
            </a:pPr>
            <a:r>
              <a:rPr lang="en-US" b="true" sz="5359" spc="-107">
                <a:solidFill>
                  <a:srgbClr val="2E1F13"/>
                </a:solidFill>
                <a:latin typeface="Tex Gyre Termes Bold"/>
                <a:ea typeface="Tex Gyre Termes Bold"/>
                <a:cs typeface="Tex Gyre Termes Bold"/>
                <a:sym typeface="Tex Gyre Termes Bold"/>
              </a:rPr>
              <a:t>Hubungan Antara Open Source dan Closed Source dengan Ideologi</a:t>
            </a:r>
          </a:p>
        </p:txBody>
      </p:sp>
      <p:sp>
        <p:nvSpPr>
          <p:cNvPr name="TextBox 10" id="10"/>
          <p:cNvSpPr txBox="true"/>
          <p:nvPr/>
        </p:nvSpPr>
        <p:spPr>
          <a:xfrm rot="0">
            <a:off x="1977958" y="3723523"/>
            <a:ext cx="14332084" cy="5192045"/>
          </a:xfrm>
          <a:prstGeom prst="rect">
            <a:avLst/>
          </a:prstGeom>
        </p:spPr>
        <p:txBody>
          <a:bodyPr anchor="t" rtlCol="false" tIns="0" lIns="0" bIns="0" rIns="0">
            <a:spAutoFit/>
          </a:bodyPr>
          <a:lstStyle/>
          <a:p>
            <a:pPr algn="just">
              <a:lnSpc>
                <a:spcPts val="2592"/>
              </a:lnSpc>
            </a:pPr>
            <a:r>
              <a:rPr lang="en-US" sz="2728" spc="19">
                <a:solidFill>
                  <a:srgbClr val="2E1F13"/>
                </a:solidFill>
                <a:latin typeface="Touvlo"/>
                <a:ea typeface="Touvlo"/>
                <a:cs typeface="Touvlo"/>
                <a:sym typeface="Touvlo"/>
              </a:rPr>
              <a:t>Dalam buku  </a:t>
            </a:r>
            <a:r>
              <a:rPr lang="en-US" sz="2728" i="true" spc="19">
                <a:solidFill>
                  <a:srgbClr val="2E1F13"/>
                </a:solidFill>
                <a:latin typeface="Touvlo Italics"/>
                <a:ea typeface="Touvlo Italics"/>
                <a:cs typeface="Touvlo Italics"/>
                <a:sym typeface="Touvlo Italics"/>
              </a:rPr>
              <a:t>The Big Three in Economics </a:t>
            </a:r>
            <a:r>
              <a:rPr lang="en-US" sz="2728" spc="19">
                <a:solidFill>
                  <a:srgbClr val="2E1F13"/>
                </a:solidFill>
                <a:latin typeface="Touvlo"/>
                <a:ea typeface="Touvlo"/>
                <a:cs typeface="Touvlo"/>
                <a:sym typeface="Touvlo"/>
              </a:rPr>
              <a:t>Mark Skousen, pemikiran Adam Smith, Karl Marx, dan John Maynard Keynes menunjukkan perbedaan pandangan ekonomi terhadap teknologi. Smith menekankan pentingnya pasar bebas dan kepemilikan pribadi sebagai pendorong produksi dan inovasi melalui mekanisme “tangan tak terlihat”. Sebaliknya, Marx mengkritik kapitalisme karena meningkatkan eksploitasi tenaga kerja dan menjadikan teknologi sebagai alat untuk keuntungan kapitalis, bahkan mendorong penghapusan kepemilikan pribadi. Sementara itu, Keynes berada di posisi tengah dengan menyatakan bahwa kapitalisme tidak stabil sehingga memerlukan intervensi negara untuk menjaga keseimbangan ekonomi tanpa menghapus sistem pasar sepenuhnya. </a:t>
            </a:r>
          </a:p>
          <a:p>
            <a:pPr algn="just">
              <a:lnSpc>
                <a:spcPts val="2592"/>
              </a:lnSpc>
            </a:pPr>
          </a:p>
          <a:p>
            <a:pPr algn="just">
              <a:lnSpc>
                <a:spcPts val="2592"/>
              </a:lnSpc>
            </a:pPr>
            <a:r>
              <a:rPr lang="en-US" sz="2728" spc="19">
                <a:solidFill>
                  <a:srgbClr val="2E1F13"/>
                </a:solidFill>
                <a:latin typeface="Touvlo"/>
                <a:ea typeface="Touvlo"/>
                <a:cs typeface="Touvlo"/>
                <a:sym typeface="Touvlo"/>
              </a:rPr>
              <a:t>Perbedaan pandangan ini menunjukkan bahwa</a:t>
            </a:r>
            <a:r>
              <a:rPr lang="en-US" sz="2728" i="true" spc="19">
                <a:solidFill>
                  <a:srgbClr val="2E1F13"/>
                </a:solidFill>
                <a:latin typeface="Touvlo Italics"/>
                <a:ea typeface="Touvlo Italics"/>
                <a:cs typeface="Touvlo Italics"/>
                <a:sym typeface="Touvlo Italics"/>
              </a:rPr>
              <a:t> open source</a:t>
            </a:r>
            <a:r>
              <a:rPr lang="en-US" sz="2728" spc="19">
                <a:solidFill>
                  <a:srgbClr val="2E1F13"/>
                </a:solidFill>
                <a:latin typeface="Touvlo"/>
                <a:ea typeface="Touvlo"/>
                <a:cs typeface="Touvlo"/>
                <a:sym typeface="Touvlo"/>
              </a:rPr>
              <a:t> cenderung sejalan dengan gagasan kolektivisme Marx, sedangkan </a:t>
            </a:r>
            <a:r>
              <a:rPr lang="en-US" sz="2728" i="true" spc="19">
                <a:solidFill>
                  <a:srgbClr val="2E1F13"/>
                </a:solidFill>
                <a:latin typeface="Touvlo Italics"/>
                <a:ea typeface="Touvlo Italics"/>
                <a:cs typeface="Touvlo Italics"/>
                <a:sym typeface="Touvlo Italics"/>
              </a:rPr>
              <a:t>closed source</a:t>
            </a:r>
            <a:r>
              <a:rPr lang="en-US" sz="2728" spc="19">
                <a:solidFill>
                  <a:srgbClr val="2E1F13"/>
                </a:solidFill>
                <a:latin typeface="Touvlo"/>
                <a:ea typeface="Touvlo"/>
                <a:cs typeface="Touvlo"/>
                <a:sym typeface="Touvlo"/>
              </a:rPr>
              <a:t> lebih dekat dengan kapitalisme pasar bebas ala Smith, dengan Keynes melakukan pendekatan moderat melalui regulasi.</a:t>
            </a:r>
          </a:p>
          <a:p>
            <a:pPr algn="just">
              <a:lnSpc>
                <a:spcPts val="2592"/>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000500"/>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4230" y="-4688138"/>
            <a:ext cx="15430500" cy="6200255"/>
          </a:xfrm>
          <a:custGeom>
            <a:avLst/>
            <a:gdLst/>
            <a:ahLst/>
            <a:cxnLst/>
            <a:rect r="r" b="b" t="t" l="l"/>
            <a:pathLst>
              <a:path h="6200255" w="15430500">
                <a:moveTo>
                  <a:pt x="0" y="0"/>
                </a:moveTo>
                <a:lnTo>
                  <a:pt x="15430500" y="0"/>
                </a:lnTo>
                <a:lnTo>
                  <a:pt x="15430500" y="6200256"/>
                </a:lnTo>
                <a:lnTo>
                  <a:pt x="0" y="62002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417634" y="-2388268"/>
            <a:ext cx="6552129" cy="6063698"/>
          </a:xfrm>
          <a:custGeom>
            <a:avLst/>
            <a:gdLst/>
            <a:ahLst/>
            <a:cxnLst/>
            <a:rect r="r" b="b" t="t" l="l"/>
            <a:pathLst>
              <a:path h="6063698" w="6552129">
                <a:moveTo>
                  <a:pt x="0" y="0"/>
                </a:moveTo>
                <a:lnTo>
                  <a:pt x="6552129" y="0"/>
                </a:lnTo>
                <a:lnTo>
                  <a:pt x="6552129" y="6063697"/>
                </a:lnTo>
                <a:lnTo>
                  <a:pt x="0" y="60636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3837029" y="-2556711"/>
            <a:ext cx="6552129" cy="6063698"/>
          </a:xfrm>
          <a:custGeom>
            <a:avLst/>
            <a:gdLst/>
            <a:ahLst/>
            <a:cxnLst/>
            <a:rect r="r" b="b" t="t" l="l"/>
            <a:pathLst>
              <a:path h="6063698" w="6552129">
                <a:moveTo>
                  <a:pt x="6552129" y="0"/>
                </a:moveTo>
                <a:lnTo>
                  <a:pt x="0" y="0"/>
                </a:lnTo>
                <a:lnTo>
                  <a:pt x="0" y="6063698"/>
                </a:lnTo>
                <a:lnTo>
                  <a:pt x="6552129" y="6063698"/>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28750" y="8839368"/>
            <a:ext cx="15430500" cy="6200255"/>
          </a:xfrm>
          <a:custGeom>
            <a:avLst/>
            <a:gdLst/>
            <a:ahLst/>
            <a:cxnLst/>
            <a:rect r="r" b="b" t="t" l="l"/>
            <a:pathLst>
              <a:path h="6200255" w="15430500">
                <a:moveTo>
                  <a:pt x="0" y="0"/>
                </a:moveTo>
                <a:lnTo>
                  <a:pt x="15430500" y="0"/>
                </a:lnTo>
                <a:lnTo>
                  <a:pt x="15430500" y="6200255"/>
                </a:lnTo>
                <a:lnTo>
                  <a:pt x="0" y="62002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1731834" y="7255151"/>
            <a:ext cx="6552129" cy="6063698"/>
          </a:xfrm>
          <a:custGeom>
            <a:avLst/>
            <a:gdLst/>
            <a:ahLst/>
            <a:cxnLst/>
            <a:rect r="r" b="b" t="t" l="l"/>
            <a:pathLst>
              <a:path h="6063698" w="6552129">
                <a:moveTo>
                  <a:pt x="6552129" y="0"/>
                </a:moveTo>
                <a:lnTo>
                  <a:pt x="0" y="0"/>
                </a:lnTo>
                <a:lnTo>
                  <a:pt x="0" y="6063698"/>
                </a:lnTo>
                <a:lnTo>
                  <a:pt x="6552129" y="6063698"/>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500145" y="7255151"/>
            <a:ext cx="6552129" cy="6063698"/>
          </a:xfrm>
          <a:custGeom>
            <a:avLst/>
            <a:gdLst/>
            <a:ahLst/>
            <a:cxnLst/>
            <a:rect r="r" b="b" t="t" l="l"/>
            <a:pathLst>
              <a:path h="6063698" w="6552129">
                <a:moveTo>
                  <a:pt x="0" y="0"/>
                </a:moveTo>
                <a:lnTo>
                  <a:pt x="6552129" y="0"/>
                </a:lnTo>
                <a:lnTo>
                  <a:pt x="6552129" y="6063698"/>
                </a:lnTo>
                <a:lnTo>
                  <a:pt x="0" y="6063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4130854" y="1721668"/>
            <a:ext cx="10026293" cy="922364"/>
          </a:xfrm>
          <a:prstGeom prst="rect">
            <a:avLst/>
          </a:prstGeom>
        </p:spPr>
        <p:txBody>
          <a:bodyPr anchor="t" rtlCol="false" tIns="0" lIns="0" bIns="0" rIns="0">
            <a:spAutoFit/>
          </a:bodyPr>
          <a:lstStyle/>
          <a:p>
            <a:pPr algn="ctr">
              <a:lnSpc>
                <a:spcPts val="6713"/>
              </a:lnSpc>
            </a:pPr>
            <a:r>
              <a:rPr lang="en-US" b="true" sz="7459" spc="-149">
                <a:solidFill>
                  <a:srgbClr val="2E1F13"/>
                </a:solidFill>
                <a:latin typeface="Tex Gyre Termes Bold"/>
                <a:ea typeface="Tex Gyre Termes Bold"/>
                <a:cs typeface="Tex Gyre Termes Bold"/>
                <a:sym typeface="Tex Gyre Termes Bold"/>
              </a:rPr>
              <a:t>Kesimpulan</a:t>
            </a:r>
          </a:p>
        </p:txBody>
      </p:sp>
      <p:sp>
        <p:nvSpPr>
          <p:cNvPr name="TextBox 10" id="10"/>
          <p:cNvSpPr txBox="true"/>
          <p:nvPr/>
        </p:nvSpPr>
        <p:spPr>
          <a:xfrm rot="0">
            <a:off x="2635342" y="3261735"/>
            <a:ext cx="13017317" cy="4950403"/>
          </a:xfrm>
          <a:prstGeom prst="rect">
            <a:avLst/>
          </a:prstGeom>
        </p:spPr>
        <p:txBody>
          <a:bodyPr anchor="t" rtlCol="false" tIns="0" lIns="0" bIns="0" rIns="0">
            <a:spAutoFit/>
          </a:bodyPr>
          <a:lstStyle/>
          <a:p>
            <a:pPr algn="just">
              <a:lnSpc>
                <a:spcPts val="3913"/>
              </a:lnSpc>
            </a:pPr>
            <a:r>
              <a:rPr lang="en-US" sz="3181" spc="22">
                <a:solidFill>
                  <a:srgbClr val="2E1F13"/>
                </a:solidFill>
                <a:latin typeface="Touvlo"/>
                <a:ea typeface="Touvlo"/>
                <a:cs typeface="Touvlo"/>
                <a:sym typeface="Touvlo"/>
              </a:rPr>
              <a:t>Perkembangan teknologi sejak 1960 menunjukkan pergeseran peran dari negara sebagai penggerak utama menjadi kolaborasi dengan swasta dan individu. Saat ini, swasta memimpin inovasi, sementara negara berperan sebagai regulator dan pendukung. Inovasi juga didorong oleh kreativitas individu dan mekanisme pasar. Budaya hacking memperkuat kolaborasi dan eksperimen dalam teknologi. Selain itu, terdapat keseimbangan antara open source (keterbukaan) dan closed source (keuntungan ekonomi), sehingga kombinasi keduanya menjadi kunci dalam mendorong inovasi dan keberlanjutan teknologi.</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000500"/>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4230" y="-4688138"/>
            <a:ext cx="15430500" cy="6200255"/>
          </a:xfrm>
          <a:custGeom>
            <a:avLst/>
            <a:gdLst/>
            <a:ahLst/>
            <a:cxnLst/>
            <a:rect r="r" b="b" t="t" l="l"/>
            <a:pathLst>
              <a:path h="6200255" w="15430500">
                <a:moveTo>
                  <a:pt x="0" y="0"/>
                </a:moveTo>
                <a:lnTo>
                  <a:pt x="15430500" y="0"/>
                </a:lnTo>
                <a:lnTo>
                  <a:pt x="15430500" y="6200256"/>
                </a:lnTo>
                <a:lnTo>
                  <a:pt x="0" y="62002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417634" y="-2388268"/>
            <a:ext cx="6552129" cy="6063698"/>
          </a:xfrm>
          <a:custGeom>
            <a:avLst/>
            <a:gdLst/>
            <a:ahLst/>
            <a:cxnLst/>
            <a:rect r="r" b="b" t="t" l="l"/>
            <a:pathLst>
              <a:path h="6063698" w="6552129">
                <a:moveTo>
                  <a:pt x="0" y="0"/>
                </a:moveTo>
                <a:lnTo>
                  <a:pt x="6552129" y="0"/>
                </a:lnTo>
                <a:lnTo>
                  <a:pt x="6552129" y="6063697"/>
                </a:lnTo>
                <a:lnTo>
                  <a:pt x="0" y="60636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3837029" y="-2556711"/>
            <a:ext cx="6552129" cy="6063698"/>
          </a:xfrm>
          <a:custGeom>
            <a:avLst/>
            <a:gdLst/>
            <a:ahLst/>
            <a:cxnLst/>
            <a:rect r="r" b="b" t="t" l="l"/>
            <a:pathLst>
              <a:path h="6063698" w="6552129">
                <a:moveTo>
                  <a:pt x="6552129" y="0"/>
                </a:moveTo>
                <a:lnTo>
                  <a:pt x="0" y="0"/>
                </a:lnTo>
                <a:lnTo>
                  <a:pt x="0" y="6063698"/>
                </a:lnTo>
                <a:lnTo>
                  <a:pt x="6552129" y="6063698"/>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28750" y="8839368"/>
            <a:ext cx="15430500" cy="6200255"/>
          </a:xfrm>
          <a:custGeom>
            <a:avLst/>
            <a:gdLst/>
            <a:ahLst/>
            <a:cxnLst/>
            <a:rect r="r" b="b" t="t" l="l"/>
            <a:pathLst>
              <a:path h="6200255" w="15430500">
                <a:moveTo>
                  <a:pt x="0" y="0"/>
                </a:moveTo>
                <a:lnTo>
                  <a:pt x="15430500" y="0"/>
                </a:lnTo>
                <a:lnTo>
                  <a:pt x="15430500" y="6200255"/>
                </a:lnTo>
                <a:lnTo>
                  <a:pt x="0" y="62002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1731834" y="7255151"/>
            <a:ext cx="6552129" cy="6063698"/>
          </a:xfrm>
          <a:custGeom>
            <a:avLst/>
            <a:gdLst/>
            <a:ahLst/>
            <a:cxnLst/>
            <a:rect r="r" b="b" t="t" l="l"/>
            <a:pathLst>
              <a:path h="6063698" w="6552129">
                <a:moveTo>
                  <a:pt x="6552129" y="0"/>
                </a:moveTo>
                <a:lnTo>
                  <a:pt x="0" y="0"/>
                </a:lnTo>
                <a:lnTo>
                  <a:pt x="0" y="6063698"/>
                </a:lnTo>
                <a:lnTo>
                  <a:pt x="6552129" y="6063698"/>
                </a:lnTo>
                <a:lnTo>
                  <a:pt x="65521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500145" y="7255151"/>
            <a:ext cx="6552129" cy="6063698"/>
          </a:xfrm>
          <a:custGeom>
            <a:avLst/>
            <a:gdLst/>
            <a:ahLst/>
            <a:cxnLst/>
            <a:rect r="r" b="b" t="t" l="l"/>
            <a:pathLst>
              <a:path h="6063698" w="6552129">
                <a:moveTo>
                  <a:pt x="0" y="0"/>
                </a:moveTo>
                <a:lnTo>
                  <a:pt x="6552129" y="0"/>
                </a:lnTo>
                <a:lnTo>
                  <a:pt x="6552129" y="6063698"/>
                </a:lnTo>
                <a:lnTo>
                  <a:pt x="0" y="6063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2438647" y="375750"/>
            <a:ext cx="5438755" cy="2272736"/>
          </a:xfrm>
          <a:custGeom>
            <a:avLst/>
            <a:gdLst/>
            <a:ahLst/>
            <a:cxnLst/>
            <a:rect r="r" b="b" t="t" l="l"/>
            <a:pathLst>
              <a:path h="2272736" w="5438755">
                <a:moveTo>
                  <a:pt x="0" y="0"/>
                </a:moveTo>
                <a:lnTo>
                  <a:pt x="5438755" y="0"/>
                </a:lnTo>
                <a:lnTo>
                  <a:pt x="5438755" y="2272736"/>
                </a:lnTo>
                <a:lnTo>
                  <a:pt x="0" y="2272736"/>
                </a:lnTo>
                <a:lnTo>
                  <a:pt x="0" y="0"/>
                </a:lnTo>
                <a:close/>
              </a:path>
            </a:pathLst>
          </a:custGeom>
          <a:blipFill>
            <a:blip r:embed="rId8"/>
            <a:stretch>
              <a:fillRect l="0" t="0" r="0" b="0"/>
            </a:stretch>
          </a:blipFill>
        </p:spPr>
      </p:sp>
      <p:sp>
        <p:nvSpPr>
          <p:cNvPr name="Freeform 10" id="10"/>
          <p:cNvSpPr/>
          <p:nvPr/>
        </p:nvSpPr>
        <p:spPr>
          <a:xfrm flipH="false" flipV="false" rot="0">
            <a:off x="329720" y="6521229"/>
            <a:ext cx="4970624" cy="2711249"/>
          </a:xfrm>
          <a:custGeom>
            <a:avLst/>
            <a:gdLst/>
            <a:ahLst/>
            <a:cxnLst/>
            <a:rect r="r" b="b" t="t" l="l"/>
            <a:pathLst>
              <a:path h="2711249" w="4970624">
                <a:moveTo>
                  <a:pt x="0" y="0"/>
                </a:moveTo>
                <a:lnTo>
                  <a:pt x="4970623" y="0"/>
                </a:lnTo>
                <a:lnTo>
                  <a:pt x="4970623" y="2711249"/>
                </a:lnTo>
                <a:lnTo>
                  <a:pt x="0" y="2711249"/>
                </a:lnTo>
                <a:lnTo>
                  <a:pt x="0" y="0"/>
                </a:lnTo>
                <a:close/>
              </a:path>
            </a:pathLst>
          </a:custGeom>
          <a:blipFill>
            <a:blip r:embed="rId9"/>
            <a:stretch>
              <a:fillRect l="0" t="0" r="0" b="0"/>
            </a:stretch>
          </a:blipFill>
        </p:spPr>
      </p:sp>
      <p:sp>
        <p:nvSpPr>
          <p:cNvPr name="TextBox 11" id="11"/>
          <p:cNvSpPr txBox="true"/>
          <p:nvPr/>
        </p:nvSpPr>
        <p:spPr>
          <a:xfrm rot="0">
            <a:off x="1911653" y="3240044"/>
            <a:ext cx="14464693" cy="4616538"/>
          </a:xfrm>
          <a:prstGeom prst="rect">
            <a:avLst/>
          </a:prstGeom>
        </p:spPr>
        <p:txBody>
          <a:bodyPr anchor="t" rtlCol="false" tIns="0" lIns="0" bIns="0" rIns="0">
            <a:spAutoFit/>
          </a:bodyPr>
          <a:lstStyle/>
          <a:p>
            <a:pPr algn="ctr">
              <a:lnSpc>
                <a:spcPts val="17116"/>
              </a:lnSpc>
            </a:pPr>
            <a:r>
              <a:rPr lang="en-US" b="true" sz="21395" spc="-706">
                <a:solidFill>
                  <a:srgbClr val="5E4840"/>
                </a:solidFill>
                <a:latin typeface="Tex Gyre Termes Bold"/>
                <a:ea typeface="Tex Gyre Termes Bold"/>
                <a:cs typeface="Tex Gyre Termes Bold"/>
                <a:sym typeface="Tex Gyre Termes Bold"/>
              </a:rPr>
              <a:t>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DAHGJvmdkek</dc:identifier>
  <dcterms:modified xsi:type="dcterms:W3CDTF">2011-08-01T06:04:30Z</dcterms:modified>
  <cp:revision>1</cp:revision>
  <dc:title>KELOMPOK 3 PERPUSTAKAAN DIGITAL</dc:title>
</cp:coreProperties>
</file>